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respected evaluators. Today I am presenting TurnChain, an autonomous, turn-based Connect Four game deployed on Base Sepolia. TurnChain proves that interactive, competitive board games can run 100% on-chain without any central backend server or proprietary coordinator. Every game state, gravity drop, win check, and draw evaluation is executed strictly by EVM bytecode.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online board games depend entirely on centralized WebSockets and database servers. If the server goes down, your match is lost. Even worse, in turn-based games, losing players often abandon the match to stall their opponent indefinitely. Furthermore, many so-called 'Web3' games only put token rewards on-chain while running all actual logic off-chain. TurnChain addresses this by putting 100% of game state and rules directly on the blockchain.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TurnChain solves these issues with three key pillars: First, every match is an independent on-chain state machine. Second, players can play asynchronously—you make a move, close your browser, and come back whenever your opponent responds. Third, to eliminate stalling, we implemented a 24-hour timeout rule: if your opponent goes inactive for more than 24 hours on their turn, you can call claimTimeout() to immediately forfeit them and claim the win.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complete architectural layout. On the frontend, we have a modern React 18 and TypeScript client utilizing Wagmi v2 and Viem. The frontend connects directly to the Base Sepolia network via standard JSON-RPC. There is no intermediate Node.js or Express API backend. The smart contract at 0xBbA7...B6db acts as the single source of truth, storing the board state in a 7-column by 6-row matrix, checking victory conditions, and emitting indexed events for live client updates.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examine the smart contract design. The board is represented as a 7x6 array of uint8 values. When a player calls makeMove, the contract first checks if the game is active and if it is that player's turn. It finds the lowest empty row in the selected column to simulate gravity. Then, it evaluates 4-in-a-row connections along four distinct vector directions: horizontal, vertical, positive diagonal, and negative diagonal. If 42 moves occur without a 4-in-a-row, it declares a draw. All custom errors like ColumnFull and NotYourTurn provide clear, gas-efficient revert reasons.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frontend is designed for an engaging arcade user experience. Using Wagmi hooks and Viem, it interacts with Base Sepolia in real time. We built deep-linking so hosts can simply copy a URL like http://localhost:5174/?gameId=1 and share it with an opponent. The interface uses real-time contract event listeners and smart polling so the board updates automatically when the other player submits their transaction.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Reliability in smart contracts is critical because code is immutable once deployed. We wrote 22 automated Foundry unit tests covering every valid move path and adversarial edge case—including invalid columns, playing out of turn, self-joining, and timeout edge cases. All 22 tests pass with 100% success rate. The contract is live on Base Sepolia and verified on BaseScan.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conclusion, TurnChain demonstrates how classic turn-based games can achieve complete decentralization, immutability, and tamper-resistance on Layer 2 blockchains. In the future, we plan to introduce ERC-20 prize pools, EIP-712 gasless meta-transactions for smoother onboarding, and account abstraction. Thank you for your time, and I welcome any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0F19"/>
        </a:solidFill>
      </p:bgPr>
    </p:bg>
    <p:spTree>
      <p:nvGrpSpPr>
        <p:cNvPr id="1" name=""/>
        <p:cNvGrpSpPr/>
        <p:nvPr/>
      </p:nvGrpSpPr>
      <p:grpSpPr>
        <a:xfrm>
          <a:off x="0" y="0"/>
          <a:ext cx="0" cy="0"/>
          <a:chOff x="0" y="0"/>
          <a:chExt cx="0" cy="0"/>
        </a:xfrm>
      </p:grpSpPr>
      <p:sp>
        <p:nvSpPr>
          <p:cNvPr id="2" name="Shape 0"/>
          <p:cNvSpPr/>
          <p:nvPr/>
        </p:nvSpPr>
        <p:spPr>
          <a:xfrm>
            <a:off x="548640" y="457200"/>
            <a:ext cx="8046720" cy="4206240"/>
          </a:xfrm>
          <a:prstGeom prst="roundRect">
            <a:avLst>
              <a:gd name="adj" fmla="val 2174"/>
            </a:avLst>
          </a:prstGeom>
          <a:solidFill>
            <a:srgbClr val="161F30"/>
          </a:solidFill>
          <a:ln w="19050">
            <a:solidFill>
              <a:srgbClr val="2A3B5C"/>
            </a:solidFill>
            <a:prstDash val="solid"/>
          </a:ln>
        </p:spPr>
      </p:sp>
      <p:sp>
        <p:nvSpPr>
          <p:cNvPr id="3" name="Shape 1"/>
          <p:cNvSpPr/>
          <p:nvPr/>
        </p:nvSpPr>
        <p:spPr>
          <a:xfrm>
            <a:off x="914400" y="777240"/>
            <a:ext cx="2560320" cy="320040"/>
          </a:xfrm>
          <a:prstGeom prst="roundRect">
            <a:avLst>
              <a:gd name="adj" fmla="val 17143"/>
            </a:avLst>
          </a:prstGeom>
          <a:solidFill>
            <a:srgbClr val="1E293B"/>
          </a:solidFill>
          <a:ln w="12700">
            <a:solidFill>
              <a:srgbClr val="00F0FF"/>
            </a:solidFill>
            <a:prstDash val="solid"/>
          </a:ln>
        </p:spPr>
      </p:sp>
      <p:sp>
        <p:nvSpPr>
          <p:cNvPr id="4" name="Text 2"/>
          <p:cNvSpPr/>
          <p:nvPr/>
        </p:nvSpPr>
        <p:spPr>
          <a:xfrm>
            <a:off x="914400" y="777240"/>
            <a:ext cx="2560320" cy="320040"/>
          </a:xfrm>
          <a:prstGeom prst="rect">
            <a:avLst/>
          </a:prstGeom>
          <a:noFill/>
          <a:ln/>
        </p:spPr>
        <p:txBody>
          <a:bodyPr wrap="square" rtlCol="0" anchor="ctr"/>
          <a:lstStyle/>
          <a:p>
            <a:pPr algn="ctr" indent="0" marL="0">
              <a:buNone/>
            </a:pPr>
            <a:r>
              <a:rPr lang="en-US" sz="850" b="1" dirty="0">
                <a:solidFill>
                  <a:srgbClr val="00F0FF"/>
                </a:solidFill>
                <a:latin typeface="Arial" pitchFamily="34" charset="0"/>
                <a:ea typeface="Arial" pitchFamily="34" charset="-122"/>
                <a:cs typeface="Arial" pitchFamily="34" charset="-120"/>
              </a:rPr>
              <a:t>BASE SEPOLIA  •  CHAIN ID 84532</a:t>
            </a:r>
            <a:endParaRPr lang="en-US" sz="850" dirty="0"/>
          </a:p>
        </p:txBody>
      </p:sp>
      <p:sp>
        <p:nvSpPr>
          <p:cNvPr id="5" name="Text 3"/>
          <p:cNvSpPr/>
          <p:nvPr/>
        </p:nvSpPr>
        <p:spPr>
          <a:xfrm>
            <a:off x="914400" y="1234440"/>
            <a:ext cx="7315200" cy="685800"/>
          </a:xfrm>
          <a:prstGeom prst="rect">
            <a:avLst/>
          </a:prstGeom>
          <a:noFill/>
          <a:ln/>
        </p:spPr>
        <p:txBody>
          <a:bodyPr wrap="square" rtlCol="0" anchor="ctr"/>
          <a:lstStyle/>
          <a:p>
            <a:pPr indent="0" marL="0">
              <a:buNone/>
            </a:pPr>
            <a:r>
              <a:rPr lang="en-US" sz="3600" b="1" dirty="0">
                <a:solidFill>
                  <a:srgbClr val="FFFFFF"/>
                </a:solidFill>
                <a:latin typeface="Arial" pitchFamily="34" charset="0"/>
                <a:ea typeface="Arial" pitchFamily="34" charset="-122"/>
                <a:cs typeface="Arial" pitchFamily="34" charset="-120"/>
              </a:rPr>
              <a:t>TurnChain</a:t>
            </a:r>
            <a:endParaRPr lang="en-US" sz="3600" dirty="0"/>
          </a:p>
        </p:txBody>
      </p:sp>
      <p:sp>
        <p:nvSpPr>
          <p:cNvPr id="6" name="Text 4"/>
          <p:cNvSpPr/>
          <p:nvPr/>
        </p:nvSpPr>
        <p:spPr>
          <a:xfrm>
            <a:off x="914400" y="1920240"/>
            <a:ext cx="7315200" cy="365760"/>
          </a:xfrm>
          <a:prstGeom prst="rect">
            <a:avLst/>
          </a:prstGeom>
          <a:noFill/>
          <a:ln/>
        </p:spPr>
        <p:txBody>
          <a:bodyPr wrap="square" rtlCol="0" anchor="ctr"/>
          <a:lstStyle/>
          <a:p>
            <a:pPr indent="0" marL="0">
              <a:buNone/>
            </a:pPr>
            <a:r>
              <a:rPr lang="en-US" sz="1400" dirty="0">
                <a:solidFill>
                  <a:srgbClr val="00F0FF"/>
                </a:solidFill>
                <a:latin typeface="Arial" pitchFamily="34" charset="0"/>
                <a:ea typeface="Arial" pitchFamily="34" charset="-122"/>
                <a:cs typeface="Arial" pitchFamily="34" charset="-120"/>
              </a:rPr>
              <a:t>Autonomous, Fully On-Chain Connect Four Game Engine</a:t>
            </a:r>
            <a:endParaRPr lang="en-US" sz="1400" dirty="0"/>
          </a:p>
        </p:txBody>
      </p:sp>
      <p:sp>
        <p:nvSpPr>
          <p:cNvPr id="7" name="Shape 5"/>
          <p:cNvSpPr/>
          <p:nvPr/>
        </p:nvSpPr>
        <p:spPr>
          <a:xfrm>
            <a:off x="914400" y="2423160"/>
            <a:ext cx="7315200" cy="13716"/>
          </a:xfrm>
          <a:prstGeom prst="rect">
            <a:avLst/>
          </a:prstGeom>
          <a:solidFill>
            <a:srgbClr val="2A3B5C"/>
          </a:solidFill>
          <a:ln/>
        </p:spPr>
      </p:sp>
      <p:sp>
        <p:nvSpPr>
          <p:cNvPr id="8" name="Text 6"/>
          <p:cNvSpPr/>
          <p:nvPr/>
        </p:nvSpPr>
        <p:spPr>
          <a:xfrm>
            <a:off x="914400" y="2606040"/>
            <a:ext cx="7315200" cy="1828800"/>
          </a:xfrm>
          <a:prstGeom prst="rect">
            <a:avLst/>
          </a:prstGeom>
          <a:noFill/>
          <a:ln/>
        </p:spPr>
        <p:txBody>
          <a:bodyPr wrap="square" rtlCol="0" anchor="ctr"/>
          <a:lstStyle/>
          <a:p>
            <a:pPr indent="0" marL="0">
              <a:lnSpc>
                <a:spcPts val="1800"/>
              </a:lnSpc>
              <a:buNone/>
            </a:pPr>
            <a:r>
              <a:rPr lang="en-US" sz="1050" b="1" dirty="0">
                <a:solidFill>
                  <a:srgbClr val="FFFFFF"/>
                </a:solidFill>
                <a:latin typeface="Arial" pitchFamily="34" charset="0"/>
                <a:ea typeface="Arial" pitchFamily="34" charset="-122"/>
                <a:cs typeface="Arial" pitchFamily="34" charset="-120"/>
              </a:rPr>
              <a:t>Presenter: </a:t>
            </a:r>
            <a:pPr indent="0" marL="0">
              <a:lnSpc>
                <a:spcPts val="1800"/>
              </a:lnSpc>
              <a:buNone/>
            </a:pPr>
            <a:r>
              <a:rPr lang="en-US" sz="1050" dirty="0">
                <a:solidFill>
                  <a:srgbClr val="94A3B8"/>
                </a:solidFill>
                <a:latin typeface="Arial" pitchFamily="34" charset="0"/>
                <a:ea typeface="Arial" pitchFamily="34" charset="-122"/>
                <a:cs typeface="Arial" pitchFamily="34" charset="-120"/>
              </a:rPr>
              <a:t>Nikita Biradar
</a:t>
            </a:r>
            <a:pPr indent="0" marL="0">
              <a:lnSpc>
                <a:spcPts val="1800"/>
              </a:lnSpc>
              <a:buNone/>
            </a:pPr>
            <a:r>
              <a:rPr lang="en-US" sz="1050" b="1" dirty="0">
                <a:solidFill>
                  <a:srgbClr val="FFFFFF"/>
                </a:solidFill>
                <a:latin typeface="Arial" pitchFamily="34" charset="0"/>
                <a:ea typeface="Arial" pitchFamily="34" charset="-122"/>
                <a:cs typeface="Arial" pitchFamily="34" charset="-120"/>
              </a:rPr>
              <a:t>Degree: </a:t>
            </a:r>
            <a:pPr indent="0" marL="0">
              <a:lnSpc>
                <a:spcPts val="1800"/>
              </a:lnSpc>
              <a:buNone/>
            </a:pPr>
            <a:r>
              <a:rPr lang="en-US" sz="1050" dirty="0">
                <a:solidFill>
                  <a:srgbClr val="94A3B8"/>
                </a:solidFill>
                <a:latin typeface="Arial" pitchFamily="34" charset="0"/>
                <a:ea typeface="Arial" pitchFamily="34" charset="-122"/>
                <a:cs typeface="Arial" pitchFamily="34" charset="-120"/>
              </a:rPr>
              <a:t>B.Sc. Blockchain Technology (SPPU)
</a:t>
            </a:r>
            <a:pPr indent="0" marL="0">
              <a:lnSpc>
                <a:spcPts val="1800"/>
              </a:lnSpc>
              <a:buNone/>
            </a:pPr>
            <a:r>
              <a:rPr lang="en-US" sz="1050" b="1" dirty="0">
                <a:solidFill>
                  <a:srgbClr val="FFFFFF"/>
                </a:solidFill>
                <a:latin typeface="Arial" pitchFamily="34" charset="0"/>
                <a:ea typeface="Arial" pitchFamily="34" charset="-122"/>
                <a:cs typeface="Arial" pitchFamily="34" charset="-120"/>
              </a:rPr>
              <a:t>Smart Contract: </a:t>
            </a:r>
            <a:pPr indent="0" marL="0">
              <a:lnSpc>
                <a:spcPts val="1800"/>
              </a:lnSpc>
              <a:buNone/>
            </a:pPr>
            <a:r>
              <a:rPr lang="en-US" sz="950" dirty="0">
                <a:solidFill>
                  <a:srgbClr val="00F0FF"/>
                </a:solidFill>
                <a:latin typeface="Courier New" pitchFamily="34" charset="0"/>
                <a:ea typeface="Courier New" pitchFamily="34" charset="-122"/>
                <a:cs typeface="Courier New" pitchFamily="34" charset="-120"/>
              </a:rPr>
              <a:t>0xBbA7fA5D15Ba7C05954235B0E6B913cdE9dfB6db
</a:t>
            </a:r>
            <a:pPr indent="0" marL="0">
              <a:lnSpc>
                <a:spcPts val="1800"/>
              </a:lnSpc>
              <a:buNone/>
            </a:pPr>
            <a:r>
              <a:rPr lang="en-US" sz="1050" b="1" dirty="0">
                <a:solidFill>
                  <a:srgbClr val="FFFFFF"/>
                </a:solidFill>
                <a:latin typeface="Arial" pitchFamily="34" charset="0"/>
                <a:ea typeface="Arial" pitchFamily="34" charset="-122"/>
                <a:cs typeface="Arial" pitchFamily="34" charset="-120"/>
              </a:rPr>
              <a:t>Repository: </a:t>
            </a:r>
            <a:pPr indent="0" marL="0">
              <a:lnSpc>
                <a:spcPts val="1800"/>
              </a:lnSpc>
              <a:buNone/>
            </a:pPr>
            <a:r>
              <a:rPr lang="en-US" sz="1050" dirty="0">
                <a:solidFill>
                  <a:srgbClr val="94A3B8"/>
                </a:solidFill>
                <a:latin typeface="Arial" pitchFamily="34" charset="0"/>
                <a:ea typeface="Arial" pitchFamily="34" charset="-122"/>
                <a:cs typeface="Arial" pitchFamily="34" charset="-120"/>
              </a:rPr>
              <a:t>github.com/nikitabiradar231/P1-TurnChain</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0F19"/>
        </a:solidFill>
      </p:bgPr>
    </p:bg>
    <p:spTree>
      <p:nvGrpSpPr>
        <p:cNvPr id="1" name=""/>
        <p:cNvGrpSpPr/>
        <p:nvPr/>
      </p:nvGrpSpPr>
      <p:grpSpPr>
        <a:xfrm>
          <a:off x="0" y="0"/>
          <a:ext cx="0" cy="0"/>
          <a:chOff x="0" y="0"/>
          <a:chExt cx="0" cy="0"/>
        </a:xfrm>
      </p:grpSpPr>
      <p:sp>
        <p:nvSpPr>
          <p:cNvPr id="2" name="Text 0"/>
          <p:cNvSpPr/>
          <p:nvPr/>
        </p:nvSpPr>
        <p:spPr>
          <a:xfrm>
            <a:off x="548640" y="274320"/>
            <a:ext cx="8046720" cy="228600"/>
          </a:xfrm>
          <a:prstGeom prst="rect">
            <a:avLst/>
          </a:prstGeom>
          <a:noFill/>
          <a:ln/>
        </p:spPr>
        <p:txBody>
          <a:bodyPr wrap="square" rtlCol="0" anchor="ctr"/>
          <a:lstStyle/>
          <a:p>
            <a:pPr indent="0" marL="0">
              <a:buNone/>
            </a:pPr>
            <a:r>
              <a:rPr lang="en-US" sz="900" b="1" dirty="0">
                <a:solidFill>
                  <a:srgbClr val="00F0FF"/>
                </a:solidFill>
                <a:latin typeface="Arial" pitchFamily="34" charset="0"/>
                <a:ea typeface="Arial" pitchFamily="34" charset="-122"/>
                <a:cs typeface="Arial" pitchFamily="34" charset="-120"/>
              </a:rPr>
              <a:t>THE PROBLEM</a:t>
            </a:r>
            <a:endParaRPr lang="en-US" sz="900" dirty="0"/>
          </a:p>
        </p:txBody>
      </p:sp>
      <p:sp>
        <p:nvSpPr>
          <p:cNvPr id="3" name="Text 1"/>
          <p:cNvSpPr/>
          <p:nvPr/>
        </p:nvSpPr>
        <p:spPr>
          <a:xfrm>
            <a:off x="548640" y="502920"/>
            <a:ext cx="8046720" cy="411480"/>
          </a:xfrm>
          <a:prstGeom prst="rect">
            <a:avLst/>
          </a:prstGeom>
          <a:noFill/>
          <a:ln/>
        </p:spPr>
        <p:txBody>
          <a:bodyPr wrap="square" rtlCol="0" anchor="ctr"/>
          <a:lstStyle/>
          <a:p>
            <a:pPr indent="0" marL="0">
              <a:buNone/>
            </a:pPr>
            <a:r>
              <a:rPr lang="en-US" sz="1800" b="1" dirty="0">
                <a:solidFill>
                  <a:srgbClr val="FFFFFF"/>
                </a:solidFill>
                <a:latin typeface="Arial" pitchFamily="34" charset="0"/>
                <a:ea typeface="Arial" pitchFamily="34" charset="-122"/>
                <a:cs typeface="Arial" pitchFamily="34" charset="-120"/>
              </a:rPr>
              <a:t>Limitations of Centralized &amp; Hybrid Online Gaming</a:t>
            </a:r>
            <a:endParaRPr lang="en-US" sz="1800" dirty="0"/>
          </a:p>
        </p:txBody>
      </p:sp>
      <p:sp>
        <p:nvSpPr>
          <p:cNvPr id="4" name="Shape 2"/>
          <p:cNvSpPr/>
          <p:nvPr/>
        </p:nvSpPr>
        <p:spPr>
          <a:xfrm>
            <a:off x="548640" y="960120"/>
            <a:ext cx="8046720" cy="13716"/>
          </a:xfrm>
          <a:prstGeom prst="rect">
            <a:avLst/>
          </a:prstGeom>
          <a:solidFill>
            <a:srgbClr val="2A3B5C"/>
          </a:solidFill>
          <a:ln/>
        </p:spPr>
      </p:sp>
      <p:sp>
        <p:nvSpPr>
          <p:cNvPr id="5" name="Shape 3"/>
          <p:cNvSpPr/>
          <p:nvPr/>
        </p:nvSpPr>
        <p:spPr>
          <a:xfrm>
            <a:off x="548640" y="1143000"/>
            <a:ext cx="2468880" cy="3566160"/>
          </a:xfrm>
          <a:prstGeom prst="roundRect">
            <a:avLst>
              <a:gd name="adj" fmla="val 3704"/>
            </a:avLst>
          </a:prstGeom>
          <a:solidFill>
            <a:srgbClr val="161F30"/>
          </a:solidFill>
          <a:ln w="19050">
            <a:solidFill>
              <a:srgbClr val="FF2A5F"/>
            </a:solidFill>
            <a:prstDash val="solid"/>
          </a:ln>
        </p:spPr>
      </p:sp>
      <p:sp>
        <p:nvSpPr>
          <p:cNvPr id="6" name="Text 4"/>
          <p:cNvSpPr/>
          <p:nvPr/>
        </p:nvSpPr>
        <p:spPr>
          <a:xfrm>
            <a:off x="713232" y="1325880"/>
            <a:ext cx="2139696" cy="64008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1. Centralized Single Point of Failure</a:t>
            </a:r>
            <a:endParaRPr lang="en-US" sz="1200" dirty="0"/>
          </a:p>
        </p:txBody>
      </p:sp>
      <p:sp>
        <p:nvSpPr>
          <p:cNvPr id="7" name="Text 5"/>
          <p:cNvSpPr/>
          <p:nvPr/>
        </p:nvSpPr>
        <p:spPr>
          <a:xfrm>
            <a:off x="713232" y="2057400"/>
            <a:ext cx="2139696" cy="2468880"/>
          </a:xfrm>
          <a:prstGeom prst="rect">
            <a:avLst/>
          </a:prstGeom>
          <a:noFill/>
          <a:ln/>
        </p:spPr>
        <p:txBody>
          <a:bodyPr wrap="square" rtlCol="0" anchor="ctr"/>
          <a:lstStyle/>
          <a:p>
            <a:pPr indent="0" marL="0">
              <a:lnSpc>
                <a:spcPts val="1500"/>
              </a:lnSpc>
              <a:buNone/>
            </a:pPr>
            <a:r>
              <a:rPr lang="en-US" sz="1000" dirty="0">
                <a:solidFill>
                  <a:srgbClr val="94A3B8"/>
                </a:solidFill>
                <a:latin typeface="Arial" pitchFamily="34" charset="0"/>
                <a:ea typeface="Arial" pitchFamily="34" charset="-122"/>
                <a:cs typeface="Arial" pitchFamily="34" charset="-120"/>
              </a:rPr>
              <a:t>Traditional multiplayer games depend on centralized servers and databases that can experience downtime, manipulate results, or shut down permanently.</a:t>
            </a:r>
            <a:endParaRPr lang="en-US" sz="1000" dirty="0"/>
          </a:p>
        </p:txBody>
      </p:sp>
      <p:sp>
        <p:nvSpPr>
          <p:cNvPr id="8" name="Shape 6"/>
          <p:cNvSpPr/>
          <p:nvPr/>
        </p:nvSpPr>
        <p:spPr>
          <a:xfrm>
            <a:off x="3337560" y="1143000"/>
            <a:ext cx="2468880" cy="3566160"/>
          </a:xfrm>
          <a:prstGeom prst="roundRect">
            <a:avLst>
              <a:gd name="adj" fmla="val 3704"/>
            </a:avLst>
          </a:prstGeom>
          <a:solidFill>
            <a:srgbClr val="161F30"/>
          </a:solidFill>
          <a:ln w="19050">
            <a:solidFill>
              <a:srgbClr val="F59E0B"/>
            </a:solidFill>
            <a:prstDash val="solid"/>
          </a:ln>
        </p:spPr>
      </p:sp>
      <p:sp>
        <p:nvSpPr>
          <p:cNvPr id="9" name="Text 7"/>
          <p:cNvSpPr/>
          <p:nvPr/>
        </p:nvSpPr>
        <p:spPr>
          <a:xfrm>
            <a:off x="3502152" y="1325880"/>
            <a:ext cx="2139696" cy="64008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2. Session Fragility &amp; Griefing</a:t>
            </a:r>
            <a:endParaRPr lang="en-US" sz="1200" dirty="0"/>
          </a:p>
        </p:txBody>
      </p:sp>
      <p:sp>
        <p:nvSpPr>
          <p:cNvPr id="10" name="Text 8"/>
          <p:cNvSpPr/>
          <p:nvPr/>
        </p:nvSpPr>
        <p:spPr>
          <a:xfrm>
            <a:off x="3502152" y="2057400"/>
            <a:ext cx="2139696" cy="2468880"/>
          </a:xfrm>
          <a:prstGeom prst="rect">
            <a:avLst/>
          </a:prstGeom>
          <a:noFill/>
          <a:ln/>
        </p:spPr>
        <p:txBody>
          <a:bodyPr wrap="square" rtlCol="0" anchor="ctr"/>
          <a:lstStyle/>
          <a:p>
            <a:pPr indent="0" marL="0">
              <a:lnSpc>
                <a:spcPts val="1500"/>
              </a:lnSpc>
              <a:buNone/>
            </a:pPr>
            <a:r>
              <a:rPr lang="en-US" sz="1000" dirty="0">
                <a:solidFill>
                  <a:srgbClr val="94A3B8"/>
                </a:solidFill>
                <a:latin typeface="Arial" pitchFamily="34" charset="0"/>
                <a:ea typeface="Arial" pitchFamily="34" charset="-122"/>
                <a:cs typeface="Arial" pitchFamily="34" charset="-120"/>
              </a:rPr>
              <a:t>If a WebSocket server drops, in-progress matches vanish. Losing players frequently abandon turn-based games, leaving the winner stranded with no resolution.</a:t>
            </a:r>
            <a:endParaRPr lang="en-US" sz="1000" dirty="0"/>
          </a:p>
        </p:txBody>
      </p:sp>
      <p:sp>
        <p:nvSpPr>
          <p:cNvPr id="11" name="Shape 9"/>
          <p:cNvSpPr/>
          <p:nvPr/>
        </p:nvSpPr>
        <p:spPr>
          <a:xfrm>
            <a:off x="6126480" y="1143000"/>
            <a:ext cx="2468880" cy="3566160"/>
          </a:xfrm>
          <a:prstGeom prst="roundRect">
            <a:avLst>
              <a:gd name="adj" fmla="val 3704"/>
            </a:avLst>
          </a:prstGeom>
          <a:solidFill>
            <a:srgbClr val="161F30"/>
          </a:solidFill>
          <a:ln w="19050">
            <a:solidFill>
              <a:srgbClr val="00F0FF"/>
            </a:solidFill>
            <a:prstDash val="solid"/>
          </a:ln>
        </p:spPr>
      </p:sp>
      <p:sp>
        <p:nvSpPr>
          <p:cNvPr id="12" name="Text 10"/>
          <p:cNvSpPr/>
          <p:nvPr/>
        </p:nvSpPr>
        <p:spPr>
          <a:xfrm>
            <a:off x="6291072" y="1325880"/>
            <a:ext cx="2139696" cy="64008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3. 'Pseudo-Web3' Centralization</a:t>
            </a:r>
            <a:endParaRPr lang="en-US" sz="1200" dirty="0"/>
          </a:p>
        </p:txBody>
      </p:sp>
      <p:sp>
        <p:nvSpPr>
          <p:cNvPr id="13" name="Text 11"/>
          <p:cNvSpPr/>
          <p:nvPr/>
        </p:nvSpPr>
        <p:spPr>
          <a:xfrm>
            <a:off x="6291072" y="2057400"/>
            <a:ext cx="2139696" cy="2468880"/>
          </a:xfrm>
          <a:prstGeom prst="rect">
            <a:avLst/>
          </a:prstGeom>
          <a:noFill/>
          <a:ln/>
        </p:spPr>
        <p:txBody>
          <a:bodyPr wrap="square" rtlCol="0" anchor="ctr"/>
          <a:lstStyle/>
          <a:p>
            <a:pPr indent="0" marL="0">
              <a:lnSpc>
                <a:spcPts val="1500"/>
              </a:lnSpc>
              <a:buNone/>
            </a:pPr>
            <a:r>
              <a:rPr lang="en-US" sz="1000" dirty="0">
                <a:solidFill>
                  <a:srgbClr val="94A3B8"/>
                </a:solidFill>
                <a:latin typeface="Arial" pitchFamily="34" charset="0"/>
                <a:ea typeface="Arial" pitchFamily="34" charset="-122"/>
                <a:cs typeface="Arial" pitchFamily="34" charset="-120"/>
              </a:rPr>
              <a:t>Many blockchain games only tokenize rewards or cosmetic NFTs on-chain, while keeping game logic and state validation on private off-chain servers.</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0F19"/>
        </a:solidFill>
      </p:bgPr>
    </p:bg>
    <p:spTree>
      <p:nvGrpSpPr>
        <p:cNvPr id="1" name=""/>
        <p:cNvGrpSpPr/>
        <p:nvPr/>
      </p:nvGrpSpPr>
      <p:grpSpPr>
        <a:xfrm>
          <a:off x="0" y="0"/>
          <a:ext cx="0" cy="0"/>
          <a:chOff x="0" y="0"/>
          <a:chExt cx="0" cy="0"/>
        </a:xfrm>
      </p:grpSpPr>
      <p:sp>
        <p:nvSpPr>
          <p:cNvPr id="2" name="Text 0"/>
          <p:cNvSpPr/>
          <p:nvPr/>
        </p:nvSpPr>
        <p:spPr>
          <a:xfrm>
            <a:off x="548640" y="274320"/>
            <a:ext cx="8046720" cy="228600"/>
          </a:xfrm>
          <a:prstGeom prst="rect">
            <a:avLst/>
          </a:prstGeom>
          <a:noFill/>
          <a:ln/>
        </p:spPr>
        <p:txBody>
          <a:bodyPr wrap="square" rtlCol="0" anchor="ctr"/>
          <a:lstStyle/>
          <a:p>
            <a:pPr indent="0" marL="0">
              <a:buNone/>
            </a:pPr>
            <a:r>
              <a:rPr lang="en-US" sz="900" b="1" dirty="0">
                <a:solidFill>
                  <a:srgbClr val="00F0FF"/>
                </a:solidFill>
                <a:latin typeface="Arial" pitchFamily="34" charset="0"/>
                <a:ea typeface="Arial" pitchFamily="34" charset="-122"/>
                <a:cs typeface="Arial" pitchFamily="34" charset="-120"/>
              </a:rPr>
              <a:t>THE SOLUTION</a:t>
            </a:r>
            <a:endParaRPr lang="en-US" sz="900" dirty="0"/>
          </a:p>
        </p:txBody>
      </p:sp>
      <p:sp>
        <p:nvSpPr>
          <p:cNvPr id="3" name="Text 1"/>
          <p:cNvSpPr/>
          <p:nvPr/>
        </p:nvSpPr>
        <p:spPr>
          <a:xfrm>
            <a:off x="548640" y="502920"/>
            <a:ext cx="8046720" cy="411480"/>
          </a:xfrm>
          <a:prstGeom prst="rect">
            <a:avLst/>
          </a:prstGeom>
          <a:noFill/>
          <a:ln/>
        </p:spPr>
        <p:txBody>
          <a:bodyPr wrap="square" rtlCol="0" anchor="ctr"/>
          <a:lstStyle/>
          <a:p>
            <a:pPr indent="0" marL="0">
              <a:buNone/>
            </a:pPr>
            <a:r>
              <a:rPr lang="en-US" sz="1800" b="1" dirty="0">
                <a:solidFill>
                  <a:srgbClr val="FFFFFF"/>
                </a:solidFill>
                <a:latin typeface="Arial" pitchFamily="34" charset="0"/>
                <a:ea typeface="Arial" pitchFamily="34" charset="-122"/>
                <a:cs typeface="Arial" pitchFamily="34" charset="-120"/>
              </a:rPr>
              <a:t>TurnChain: Pure On-Chain State Machine</a:t>
            </a:r>
            <a:endParaRPr lang="en-US" sz="1800" dirty="0"/>
          </a:p>
        </p:txBody>
      </p:sp>
      <p:sp>
        <p:nvSpPr>
          <p:cNvPr id="4" name="Shape 2"/>
          <p:cNvSpPr/>
          <p:nvPr/>
        </p:nvSpPr>
        <p:spPr>
          <a:xfrm>
            <a:off x="548640" y="960120"/>
            <a:ext cx="8046720" cy="13716"/>
          </a:xfrm>
          <a:prstGeom prst="rect">
            <a:avLst/>
          </a:prstGeom>
          <a:solidFill>
            <a:srgbClr val="2A3B5C"/>
          </a:solidFill>
          <a:ln/>
        </p:spPr>
      </p:sp>
      <p:sp>
        <p:nvSpPr>
          <p:cNvPr id="5" name="Shape 3"/>
          <p:cNvSpPr/>
          <p:nvPr/>
        </p:nvSpPr>
        <p:spPr>
          <a:xfrm>
            <a:off x="548640" y="1143000"/>
            <a:ext cx="8046720" cy="804672"/>
          </a:xfrm>
          <a:prstGeom prst="roundRect">
            <a:avLst>
              <a:gd name="adj" fmla="val 9091"/>
            </a:avLst>
          </a:prstGeom>
          <a:solidFill>
            <a:srgbClr val="161F30"/>
          </a:solidFill>
          <a:ln w="12700">
            <a:solidFill>
              <a:srgbClr val="2A3B5C"/>
            </a:solidFill>
            <a:prstDash val="solid"/>
          </a:ln>
        </p:spPr>
      </p:sp>
      <p:sp>
        <p:nvSpPr>
          <p:cNvPr id="6" name="Shape 4"/>
          <p:cNvSpPr/>
          <p:nvPr/>
        </p:nvSpPr>
        <p:spPr>
          <a:xfrm>
            <a:off x="777240" y="1362456"/>
            <a:ext cx="365760" cy="365760"/>
          </a:xfrm>
          <a:prstGeom prst="ellipse">
            <a:avLst/>
          </a:prstGeom>
          <a:solidFill>
            <a:srgbClr val="00F0FF"/>
          </a:solidFill>
          <a:ln/>
        </p:spPr>
      </p:sp>
      <p:sp>
        <p:nvSpPr>
          <p:cNvPr id="7" name="Text 5"/>
          <p:cNvSpPr/>
          <p:nvPr/>
        </p:nvSpPr>
        <p:spPr>
          <a:xfrm>
            <a:off x="777240" y="1362456"/>
            <a:ext cx="365760" cy="365760"/>
          </a:xfrm>
          <a:prstGeom prst="rect">
            <a:avLst/>
          </a:prstGeom>
          <a:noFill/>
          <a:ln/>
        </p:spPr>
        <p:txBody>
          <a:bodyPr wrap="square" rtlCol="0" anchor="ctr"/>
          <a:lstStyle/>
          <a:p>
            <a:pPr algn="ctr" indent="0" marL="0">
              <a:buNone/>
            </a:pPr>
            <a:r>
              <a:rPr lang="en-US" sz="1000" b="1" dirty="0">
                <a:solidFill>
                  <a:srgbClr val="0B0F19"/>
                </a:solidFill>
                <a:latin typeface="Arial" pitchFamily="34" charset="0"/>
                <a:ea typeface="Arial" pitchFamily="34" charset="-122"/>
                <a:cs typeface="Arial" pitchFamily="34" charset="-120"/>
              </a:rPr>
              <a:t>1</a:t>
            </a:r>
            <a:endParaRPr lang="en-US" sz="1000" dirty="0"/>
          </a:p>
        </p:txBody>
      </p:sp>
      <p:sp>
        <p:nvSpPr>
          <p:cNvPr id="8" name="Text 6"/>
          <p:cNvSpPr/>
          <p:nvPr/>
        </p:nvSpPr>
        <p:spPr>
          <a:xfrm>
            <a:off x="1280160" y="1252728"/>
            <a:ext cx="7132320" cy="274320"/>
          </a:xfrm>
          <a:prstGeom prst="rect">
            <a:avLst/>
          </a:prstGeom>
          <a:noFill/>
          <a:ln/>
        </p:spPr>
        <p:txBody>
          <a:bodyPr wrap="square" rtlCol="0" anchor="ctr"/>
          <a:lstStyle/>
          <a:p>
            <a:pPr indent="0" marL="0">
              <a:buNone/>
            </a:pPr>
            <a:r>
              <a:rPr lang="en-US" sz="1150" b="1" dirty="0">
                <a:solidFill>
                  <a:srgbClr val="FFFFFF"/>
                </a:solidFill>
                <a:latin typeface="Arial" pitchFamily="34" charset="0"/>
                <a:ea typeface="Arial" pitchFamily="34" charset="-122"/>
                <a:cs typeface="Arial" pitchFamily="34" charset="-120"/>
              </a:rPr>
              <a:t>Zero Central Server Dependency</a:t>
            </a:r>
            <a:endParaRPr lang="en-US" sz="1150" dirty="0"/>
          </a:p>
        </p:txBody>
      </p:sp>
      <p:sp>
        <p:nvSpPr>
          <p:cNvPr id="9" name="Text 7"/>
          <p:cNvSpPr/>
          <p:nvPr/>
        </p:nvSpPr>
        <p:spPr>
          <a:xfrm>
            <a:off x="1280160" y="1527048"/>
            <a:ext cx="7132320" cy="365760"/>
          </a:xfrm>
          <a:prstGeom prst="rect">
            <a:avLst/>
          </a:prstGeom>
          <a:noFill/>
          <a:ln/>
        </p:spPr>
        <p:txBody>
          <a:bodyPr wrap="square" rtlCol="0" anchor="ctr"/>
          <a:lstStyle/>
          <a:p>
            <a:pPr indent="0" marL="0">
              <a:buNone/>
            </a:pPr>
            <a:r>
              <a:rPr lang="en-US" sz="950" dirty="0">
                <a:solidFill>
                  <a:srgbClr val="94A3B8"/>
                </a:solidFill>
                <a:latin typeface="Arial" pitchFamily="34" charset="0"/>
                <a:ea typeface="Arial" pitchFamily="34" charset="-122"/>
                <a:cs typeface="Arial" pitchFamily="34" charset="-120"/>
              </a:rPr>
              <a:t>Every match is an isolated state machine directly in the Solidity smart contract. Disconnecting does not reset or lose game state.</a:t>
            </a:r>
            <a:endParaRPr lang="en-US" sz="950" dirty="0"/>
          </a:p>
        </p:txBody>
      </p:sp>
      <p:sp>
        <p:nvSpPr>
          <p:cNvPr id="10" name="Shape 8"/>
          <p:cNvSpPr/>
          <p:nvPr/>
        </p:nvSpPr>
        <p:spPr>
          <a:xfrm>
            <a:off x="548640" y="2039112"/>
            <a:ext cx="8046720" cy="804672"/>
          </a:xfrm>
          <a:prstGeom prst="roundRect">
            <a:avLst>
              <a:gd name="adj" fmla="val 9091"/>
            </a:avLst>
          </a:prstGeom>
          <a:solidFill>
            <a:srgbClr val="161F30"/>
          </a:solidFill>
          <a:ln w="12700">
            <a:solidFill>
              <a:srgbClr val="2A3B5C"/>
            </a:solidFill>
            <a:prstDash val="solid"/>
          </a:ln>
        </p:spPr>
      </p:sp>
      <p:sp>
        <p:nvSpPr>
          <p:cNvPr id="11" name="Shape 9"/>
          <p:cNvSpPr/>
          <p:nvPr/>
        </p:nvSpPr>
        <p:spPr>
          <a:xfrm>
            <a:off x="777240" y="2258568"/>
            <a:ext cx="365760" cy="365760"/>
          </a:xfrm>
          <a:prstGeom prst="ellipse">
            <a:avLst/>
          </a:prstGeom>
          <a:solidFill>
            <a:srgbClr val="FF2A5F"/>
          </a:solidFill>
          <a:ln/>
        </p:spPr>
      </p:sp>
      <p:sp>
        <p:nvSpPr>
          <p:cNvPr id="12" name="Text 10"/>
          <p:cNvSpPr/>
          <p:nvPr/>
        </p:nvSpPr>
        <p:spPr>
          <a:xfrm>
            <a:off x="777240" y="2258568"/>
            <a:ext cx="365760" cy="365760"/>
          </a:xfrm>
          <a:prstGeom prst="rect">
            <a:avLst/>
          </a:prstGeom>
          <a:noFill/>
          <a:ln/>
        </p:spPr>
        <p:txBody>
          <a:bodyPr wrap="square" rtlCol="0" anchor="ctr"/>
          <a:lstStyle/>
          <a:p>
            <a:pPr algn="ctr" indent="0" marL="0">
              <a:buNone/>
            </a:pPr>
            <a:r>
              <a:rPr lang="en-US" sz="1000" b="1" dirty="0">
                <a:solidFill>
                  <a:srgbClr val="0B0F19"/>
                </a:solidFill>
                <a:latin typeface="Arial" pitchFamily="34" charset="0"/>
                <a:ea typeface="Arial" pitchFamily="34" charset="-122"/>
                <a:cs typeface="Arial" pitchFamily="34" charset="-120"/>
              </a:rPr>
              <a:t>2</a:t>
            </a:r>
            <a:endParaRPr lang="en-US" sz="1000" dirty="0"/>
          </a:p>
        </p:txBody>
      </p:sp>
      <p:sp>
        <p:nvSpPr>
          <p:cNvPr id="13" name="Text 11"/>
          <p:cNvSpPr/>
          <p:nvPr/>
        </p:nvSpPr>
        <p:spPr>
          <a:xfrm>
            <a:off x="1280160" y="2148840"/>
            <a:ext cx="7132320" cy="274320"/>
          </a:xfrm>
          <a:prstGeom prst="rect">
            <a:avLst/>
          </a:prstGeom>
          <a:noFill/>
          <a:ln/>
        </p:spPr>
        <p:txBody>
          <a:bodyPr wrap="square" rtlCol="0" anchor="ctr"/>
          <a:lstStyle/>
          <a:p>
            <a:pPr indent="0" marL="0">
              <a:buNone/>
            </a:pPr>
            <a:r>
              <a:rPr lang="en-US" sz="1150" b="1" dirty="0">
                <a:solidFill>
                  <a:srgbClr val="FFFFFF"/>
                </a:solidFill>
                <a:latin typeface="Arial" pitchFamily="34" charset="0"/>
                <a:ea typeface="Arial" pitchFamily="34" charset="-122"/>
                <a:cs typeface="Arial" pitchFamily="34" charset="-120"/>
              </a:rPr>
              <a:t>Asynchronous Turn-Based Gameplay</a:t>
            </a:r>
            <a:endParaRPr lang="en-US" sz="1150" dirty="0"/>
          </a:p>
        </p:txBody>
      </p:sp>
      <p:sp>
        <p:nvSpPr>
          <p:cNvPr id="14" name="Text 12"/>
          <p:cNvSpPr/>
          <p:nvPr/>
        </p:nvSpPr>
        <p:spPr>
          <a:xfrm>
            <a:off x="1280160" y="2423160"/>
            <a:ext cx="7132320" cy="365760"/>
          </a:xfrm>
          <a:prstGeom prst="rect">
            <a:avLst/>
          </a:prstGeom>
          <a:noFill/>
          <a:ln/>
        </p:spPr>
        <p:txBody>
          <a:bodyPr wrap="square" rtlCol="0" anchor="ctr"/>
          <a:lstStyle/>
          <a:p>
            <a:pPr indent="0" marL="0">
              <a:buNone/>
            </a:pPr>
            <a:r>
              <a:rPr lang="en-US" sz="950" dirty="0">
                <a:solidFill>
                  <a:srgbClr val="94A3B8"/>
                </a:solidFill>
                <a:latin typeface="Arial" pitchFamily="34" charset="0"/>
                <a:ea typeface="Arial" pitchFamily="34" charset="-122"/>
                <a:cs typeface="Arial" pitchFamily="34" charset="-120"/>
              </a:rPr>
              <a:t>Players make moves when ready. Match state persists immutably on Base Sepolia without requiring continuous WebSocket connections.</a:t>
            </a:r>
            <a:endParaRPr lang="en-US" sz="950" dirty="0"/>
          </a:p>
        </p:txBody>
      </p:sp>
      <p:sp>
        <p:nvSpPr>
          <p:cNvPr id="15" name="Shape 13"/>
          <p:cNvSpPr/>
          <p:nvPr/>
        </p:nvSpPr>
        <p:spPr>
          <a:xfrm>
            <a:off x="548640" y="2935224"/>
            <a:ext cx="8046720" cy="804672"/>
          </a:xfrm>
          <a:prstGeom prst="roundRect">
            <a:avLst>
              <a:gd name="adj" fmla="val 9091"/>
            </a:avLst>
          </a:prstGeom>
          <a:solidFill>
            <a:srgbClr val="161F30"/>
          </a:solidFill>
          <a:ln w="12700">
            <a:solidFill>
              <a:srgbClr val="2A3B5C"/>
            </a:solidFill>
            <a:prstDash val="solid"/>
          </a:ln>
        </p:spPr>
      </p:sp>
      <p:sp>
        <p:nvSpPr>
          <p:cNvPr id="16" name="Shape 14"/>
          <p:cNvSpPr/>
          <p:nvPr/>
        </p:nvSpPr>
        <p:spPr>
          <a:xfrm>
            <a:off x="777240" y="3154680"/>
            <a:ext cx="365760" cy="365760"/>
          </a:xfrm>
          <a:prstGeom prst="ellipse">
            <a:avLst/>
          </a:prstGeom>
          <a:solidFill>
            <a:srgbClr val="00F0FF"/>
          </a:solidFill>
          <a:ln/>
        </p:spPr>
      </p:sp>
      <p:sp>
        <p:nvSpPr>
          <p:cNvPr id="17" name="Text 15"/>
          <p:cNvSpPr/>
          <p:nvPr/>
        </p:nvSpPr>
        <p:spPr>
          <a:xfrm>
            <a:off x="777240" y="3154680"/>
            <a:ext cx="365760" cy="365760"/>
          </a:xfrm>
          <a:prstGeom prst="rect">
            <a:avLst/>
          </a:prstGeom>
          <a:noFill/>
          <a:ln/>
        </p:spPr>
        <p:txBody>
          <a:bodyPr wrap="square" rtlCol="0" anchor="ctr"/>
          <a:lstStyle/>
          <a:p>
            <a:pPr algn="ctr" indent="0" marL="0">
              <a:buNone/>
            </a:pPr>
            <a:r>
              <a:rPr lang="en-US" sz="1000" b="1" dirty="0">
                <a:solidFill>
                  <a:srgbClr val="0B0F19"/>
                </a:solidFill>
                <a:latin typeface="Arial" pitchFamily="34" charset="0"/>
                <a:ea typeface="Arial" pitchFamily="34" charset="-122"/>
                <a:cs typeface="Arial" pitchFamily="34" charset="-120"/>
              </a:rPr>
              <a:t>3</a:t>
            </a:r>
            <a:endParaRPr lang="en-US" sz="1000" dirty="0"/>
          </a:p>
        </p:txBody>
      </p:sp>
      <p:sp>
        <p:nvSpPr>
          <p:cNvPr id="18" name="Text 16"/>
          <p:cNvSpPr/>
          <p:nvPr/>
        </p:nvSpPr>
        <p:spPr>
          <a:xfrm>
            <a:off x="1280160" y="3044952"/>
            <a:ext cx="7132320" cy="274320"/>
          </a:xfrm>
          <a:prstGeom prst="rect">
            <a:avLst/>
          </a:prstGeom>
          <a:noFill/>
          <a:ln/>
        </p:spPr>
        <p:txBody>
          <a:bodyPr wrap="square" rtlCol="0" anchor="ctr"/>
          <a:lstStyle/>
          <a:p>
            <a:pPr indent="0" marL="0">
              <a:buNone/>
            </a:pPr>
            <a:r>
              <a:rPr lang="en-US" sz="1150" b="1" dirty="0">
                <a:solidFill>
                  <a:srgbClr val="FFFFFF"/>
                </a:solidFill>
                <a:latin typeface="Arial" pitchFamily="34" charset="0"/>
                <a:ea typeface="Arial" pitchFamily="34" charset="-122"/>
                <a:cs typeface="Arial" pitchFamily="34" charset="-120"/>
              </a:rPr>
              <a:t>Strict 24-Hour Timeout Anti-Griefing Guard</a:t>
            </a:r>
            <a:endParaRPr lang="en-US" sz="1150" dirty="0"/>
          </a:p>
        </p:txBody>
      </p:sp>
      <p:sp>
        <p:nvSpPr>
          <p:cNvPr id="19" name="Text 17"/>
          <p:cNvSpPr/>
          <p:nvPr/>
        </p:nvSpPr>
        <p:spPr>
          <a:xfrm>
            <a:off x="1280160" y="3319272"/>
            <a:ext cx="7132320" cy="365760"/>
          </a:xfrm>
          <a:prstGeom prst="rect">
            <a:avLst/>
          </a:prstGeom>
          <a:noFill/>
          <a:ln/>
        </p:spPr>
        <p:txBody>
          <a:bodyPr wrap="square" rtlCol="0" anchor="ctr"/>
          <a:lstStyle/>
          <a:p>
            <a:pPr indent="0" marL="0">
              <a:buNone/>
            </a:pPr>
            <a:r>
              <a:rPr lang="en-US" sz="950" dirty="0">
                <a:solidFill>
                  <a:srgbClr val="94A3B8"/>
                </a:solidFill>
                <a:latin typeface="Arial" pitchFamily="34" charset="0"/>
                <a:ea typeface="Arial" pitchFamily="34" charset="-122"/>
                <a:cs typeface="Arial" pitchFamily="34" charset="-120"/>
              </a:rPr>
              <a:t>If an opponent stalls for &gt; 24 hours on their turn, the active player can invoke claimTimeout() to claim victory and force a forfeit.</a:t>
            </a:r>
            <a:endParaRPr lang="en-US" sz="950" dirty="0"/>
          </a:p>
        </p:txBody>
      </p:sp>
      <p:sp>
        <p:nvSpPr>
          <p:cNvPr id="20" name="Shape 18"/>
          <p:cNvSpPr/>
          <p:nvPr/>
        </p:nvSpPr>
        <p:spPr>
          <a:xfrm>
            <a:off x="548640" y="3831336"/>
            <a:ext cx="8046720" cy="804672"/>
          </a:xfrm>
          <a:prstGeom prst="roundRect">
            <a:avLst>
              <a:gd name="adj" fmla="val 9091"/>
            </a:avLst>
          </a:prstGeom>
          <a:solidFill>
            <a:srgbClr val="161F30"/>
          </a:solidFill>
          <a:ln w="12700">
            <a:solidFill>
              <a:srgbClr val="2A3B5C"/>
            </a:solidFill>
            <a:prstDash val="solid"/>
          </a:ln>
        </p:spPr>
      </p:sp>
      <p:sp>
        <p:nvSpPr>
          <p:cNvPr id="21" name="Shape 19"/>
          <p:cNvSpPr/>
          <p:nvPr/>
        </p:nvSpPr>
        <p:spPr>
          <a:xfrm>
            <a:off x="777240" y="4050792"/>
            <a:ext cx="365760" cy="365760"/>
          </a:xfrm>
          <a:prstGeom prst="ellipse">
            <a:avLst/>
          </a:prstGeom>
          <a:solidFill>
            <a:srgbClr val="FF2A5F"/>
          </a:solidFill>
          <a:ln/>
        </p:spPr>
      </p:sp>
      <p:sp>
        <p:nvSpPr>
          <p:cNvPr id="22" name="Text 20"/>
          <p:cNvSpPr/>
          <p:nvPr/>
        </p:nvSpPr>
        <p:spPr>
          <a:xfrm>
            <a:off x="777240" y="4050792"/>
            <a:ext cx="365760" cy="365760"/>
          </a:xfrm>
          <a:prstGeom prst="rect">
            <a:avLst/>
          </a:prstGeom>
          <a:noFill/>
          <a:ln/>
        </p:spPr>
        <p:txBody>
          <a:bodyPr wrap="square" rtlCol="0" anchor="ctr"/>
          <a:lstStyle/>
          <a:p>
            <a:pPr algn="ctr" indent="0" marL="0">
              <a:buNone/>
            </a:pPr>
            <a:r>
              <a:rPr lang="en-US" sz="1000" b="1" dirty="0">
                <a:solidFill>
                  <a:srgbClr val="0B0F19"/>
                </a:solidFill>
                <a:latin typeface="Arial" pitchFamily="34" charset="0"/>
                <a:ea typeface="Arial" pitchFamily="34" charset="-122"/>
                <a:cs typeface="Arial" pitchFamily="34" charset="-120"/>
              </a:rPr>
              <a:t>4</a:t>
            </a:r>
            <a:endParaRPr lang="en-US" sz="1000" dirty="0"/>
          </a:p>
        </p:txBody>
      </p:sp>
      <p:sp>
        <p:nvSpPr>
          <p:cNvPr id="23" name="Text 21"/>
          <p:cNvSpPr/>
          <p:nvPr/>
        </p:nvSpPr>
        <p:spPr>
          <a:xfrm>
            <a:off x="1280160" y="3941064"/>
            <a:ext cx="7132320" cy="274320"/>
          </a:xfrm>
          <a:prstGeom prst="rect">
            <a:avLst/>
          </a:prstGeom>
          <a:noFill/>
          <a:ln/>
        </p:spPr>
        <p:txBody>
          <a:bodyPr wrap="square" rtlCol="0" anchor="ctr"/>
          <a:lstStyle/>
          <a:p>
            <a:pPr indent="0" marL="0">
              <a:buNone/>
            </a:pPr>
            <a:r>
              <a:rPr lang="en-US" sz="1150" b="1" dirty="0">
                <a:solidFill>
                  <a:srgbClr val="FFFFFF"/>
                </a:solidFill>
                <a:latin typeface="Arial" pitchFamily="34" charset="0"/>
                <a:ea typeface="Arial" pitchFamily="34" charset="-122"/>
                <a:cs typeface="Arial" pitchFamily="34" charset="-120"/>
              </a:rPr>
              <a:t>Peer-to-Peer Match Deep-Linking</a:t>
            </a:r>
            <a:endParaRPr lang="en-US" sz="1150" dirty="0"/>
          </a:p>
        </p:txBody>
      </p:sp>
      <p:sp>
        <p:nvSpPr>
          <p:cNvPr id="24" name="Text 22"/>
          <p:cNvSpPr/>
          <p:nvPr/>
        </p:nvSpPr>
        <p:spPr>
          <a:xfrm>
            <a:off x="1280160" y="4215384"/>
            <a:ext cx="7132320" cy="365760"/>
          </a:xfrm>
          <a:prstGeom prst="rect">
            <a:avLst/>
          </a:prstGeom>
          <a:noFill/>
          <a:ln/>
        </p:spPr>
        <p:txBody>
          <a:bodyPr wrap="square" rtlCol="0" anchor="ctr"/>
          <a:lstStyle/>
          <a:p>
            <a:pPr indent="0" marL="0">
              <a:buNone/>
            </a:pPr>
            <a:r>
              <a:rPr lang="en-US" sz="950" dirty="0">
                <a:solidFill>
                  <a:srgbClr val="94A3B8"/>
                </a:solidFill>
                <a:latin typeface="Arial" pitchFamily="34" charset="0"/>
                <a:ea typeface="Arial" pitchFamily="34" charset="-122"/>
                <a:cs typeface="Arial" pitchFamily="34" charset="-120"/>
              </a:rPr>
              <a:t>Direct URL parameter matching (/?gameId=1) lets creators share match invites directly, loading verified on-chain status for joiners.</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0F19"/>
        </a:solidFill>
      </p:bgPr>
    </p:bg>
    <p:spTree>
      <p:nvGrpSpPr>
        <p:cNvPr id="1" name=""/>
        <p:cNvGrpSpPr/>
        <p:nvPr/>
      </p:nvGrpSpPr>
      <p:grpSpPr>
        <a:xfrm>
          <a:off x="0" y="0"/>
          <a:ext cx="0" cy="0"/>
          <a:chOff x="0" y="0"/>
          <a:chExt cx="0" cy="0"/>
        </a:xfrm>
      </p:grpSpPr>
      <p:sp>
        <p:nvSpPr>
          <p:cNvPr id="2" name="Text 0"/>
          <p:cNvSpPr/>
          <p:nvPr/>
        </p:nvSpPr>
        <p:spPr>
          <a:xfrm>
            <a:off x="548640" y="274320"/>
            <a:ext cx="8046720" cy="228600"/>
          </a:xfrm>
          <a:prstGeom prst="rect">
            <a:avLst/>
          </a:prstGeom>
          <a:noFill/>
          <a:ln/>
        </p:spPr>
        <p:txBody>
          <a:bodyPr wrap="square" rtlCol="0" anchor="ctr"/>
          <a:lstStyle/>
          <a:p>
            <a:pPr indent="0" marL="0">
              <a:buNone/>
            </a:pPr>
            <a:r>
              <a:rPr lang="en-US" sz="900" b="1" dirty="0">
                <a:solidFill>
                  <a:srgbClr val="00F0FF"/>
                </a:solidFill>
                <a:latin typeface="Arial" pitchFamily="34" charset="0"/>
                <a:ea typeface="Arial" pitchFamily="34" charset="-122"/>
                <a:cs typeface="Arial" pitchFamily="34" charset="-120"/>
              </a:rPr>
              <a:t>SYSTEM ARCHITECTURE</a:t>
            </a:r>
            <a:endParaRPr lang="en-US" sz="900" dirty="0"/>
          </a:p>
        </p:txBody>
      </p:sp>
      <p:sp>
        <p:nvSpPr>
          <p:cNvPr id="3" name="Text 1"/>
          <p:cNvSpPr/>
          <p:nvPr/>
        </p:nvSpPr>
        <p:spPr>
          <a:xfrm>
            <a:off x="548640" y="502920"/>
            <a:ext cx="8046720" cy="411480"/>
          </a:xfrm>
          <a:prstGeom prst="rect">
            <a:avLst/>
          </a:prstGeom>
          <a:noFill/>
          <a:ln/>
        </p:spPr>
        <p:txBody>
          <a:bodyPr wrap="square" rtlCol="0" anchor="ctr"/>
          <a:lstStyle/>
          <a:p>
            <a:pPr indent="0" marL="0">
              <a:buNone/>
            </a:pPr>
            <a:r>
              <a:rPr lang="en-US" sz="1800" b="1" dirty="0">
                <a:solidFill>
                  <a:srgbClr val="FFFFFF"/>
                </a:solidFill>
                <a:latin typeface="Arial" pitchFamily="34" charset="0"/>
                <a:ea typeface="Arial" pitchFamily="34" charset="-122"/>
                <a:cs typeface="Arial" pitchFamily="34" charset="-120"/>
              </a:rPr>
              <a:t>Direct Client-to-Blockchain Architecture</a:t>
            </a:r>
            <a:endParaRPr lang="en-US" sz="1800" dirty="0"/>
          </a:p>
        </p:txBody>
      </p:sp>
      <p:sp>
        <p:nvSpPr>
          <p:cNvPr id="4" name="Shape 2"/>
          <p:cNvSpPr/>
          <p:nvPr/>
        </p:nvSpPr>
        <p:spPr>
          <a:xfrm>
            <a:off x="548640" y="960120"/>
            <a:ext cx="8046720" cy="13716"/>
          </a:xfrm>
          <a:prstGeom prst="rect">
            <a:avLst/>
          </a:prstGeom>
          <a:solidFill>
            <a:srgbClr val="2A3B5C"/>
          </a:solidFill>
          <a:ln/>
        </p:spPr>
      </p:sp>
      <p:sp>
        <p:nvSpPr>
          <p:cNvPr id="5" name="Shape 3"/>
          <p:cNvSpPr/>
          <p:nvPr/>
        </p:nvSpPr>
        <p:spPr>
          <a:xfrm>
            <a:off x="548640" y="1143000"/>
            <a:ext cx="3886200" cy="3566160"/>
          </a:xfrm>
          <a:prstGeom prst="roundRect">
            <a:avLst>
              <a:gd name="adj" fmla="val 2564"/>
            </a:avLst>
          </a:prstGeom>
          <a:solidFill>
            <a:srgbClr val="161F30"/>
          </a:solidFill>
          <a:ln w="19050">
            <a:solidFill>
              <a:srgbClr val="00F0FF"/>
            </a:solidFill>
            <a:prstDash val="solid"/>
          </a:ln>
        </p:spPr>
      </p:sp>
      <p:sp>
        <p:nvSpPr>
          <p:cNvPr id="6" name="Text 4"/>
          <p:cNvSpPr/>
          <p:nvPr/>
        </p:nvSpPr>
        <p:spPr>
          <a:xfrm>
            <a:off x="731520" y="1325880"/>
            <a:ext cx="3520440" cy="320040"/>
          </a:xfrm>
          <a:prstGeom prst="rect">
            <a:avLst/>
          </a:prstGeom>
          <a:noFill/>
          <a:ln/>
        </p:spPr>
        <p:txBody>
          <a:bodyPr wrap="square" rtlCol="0" anchor="ctr"/>
          <a:lstStyle/>
          <a:p>
            <a:pPr indent="0" marL="0">
              <a:buNone/>
            </a:pPr>
            <a:r>
              <a:rPr lang="en-US" sz="1300" b="1" dirty="0">
                <a:solidFill>
                  <a:srgbClr val="00F0FF"/>
                </a:solidFill>
                <a:latin typeface="Arial" pitchFamily="34" charset="0"/>
                <a:ea typeface="Arial" pitchFamily="34" charset="-122"/>
                <a:cs typeface="Arial" pitchFamily="34" charset="-120"/>
              </a:rPr>
              <a:t>React 18 + TypeScript Client</a:t>
            </a:r>
            <a:endParaRPr lang="en-US" sz="1300" dirty="0"/>
          </a:p>
        </p:txBody>
      </p:sp>
      <p:sp>
        <p:nvSpPr>
          <p:cNvPr id="7" name="Text 5"/>
          <p:cNvSpPr/>
          <p:nvPr/>
        </p:nvSpPr>
        <p:spPr>
          <a:xfrm>
            <a:off x="731520" y="1691640"/>
            <a:ext cx="3520440" cy="2834640"/>
          </a:xfrm>
          <a:prstGeom prst="rect">
            <a:avLst/>
          </a:prstGeom>
          <a:noFill/>
          <a:ln/>
        </p:spPr>
        <p:txBody>
          <a:bodyPr wrap="square" rtlCol="0" anchor="ctr"/>
          <a:lstStyle/>
          <a:p>
            <a:pPr indent="0" marL="0">
              <a:lnSpc>
                <a:spcPts val="1400"/>
              </a:lnSpc>
              <a:buNone/>
            </a:pPr>
            <a:r>
              <a:rPr lang="en-US" sz="950" b="1" dirty="0">
                <a:solidFill>
                  <a:srgbClr val="FFFFFF"/>
                </a:solidFill>
                <a:latin typeface="Arial" pitchFamily="34" charset="0"/>
                <a:ea typeface="Arial" pitchFamily="34" charset="-122"/>
                <a:cs typeface="Arial" pitchFamily="34" charset="-120"/>
              </a:rPr>
              <a:t>• Wagmi v2 + Viem:
</a:t>
            </a:r>
            <a:pPr indent="0" marL="0">
              <a:lnSpc>
                <a:spcPts val="1400"/>
              </a:lnSpc>
              <a:buNone/>
            </a:pPr>
            <a:r>
              <a:rPr lang="en-US" sz="950" dirty="0">
                <a:solidFill>
                  <a:srgbClr val="94A3B8"/>
                </a:solidFill>
                <a:latin typeface="Arial" pitchFamily="34" charset="0"/>
                <a:ea typeface="Arial" pitchFamily="34" charset="-122"/>
                <a:cs typeface="Arial" pitchFamily="34" charset="-120"/>
              </a:rPr>
              <a:t>Direct typed contract calls via Base Sepolia JSON-RPC
</a:t>
            </a:r>
            <a:pPr indent="0" marL="0">
              <a:lnSpc>
                <a:spcPts val="1400"/>
              </a:lnSpc>
              <a:buNone/>
            </a:pPr>
            <a:r>
              <a:rPr lang="en-US" sz="950" b="1" dirty="0">
                <a:solidFill>
                  <a:srgbClr val="FFFFFF"/>
                </a:solidFill>
                <a:latin typeface="Arial" pitchFamily="34" charset="0"/>
                <a:ea typeface="Arial" pitchFamily="34" charset="-122"/>
                <a:cs typeface="Arial" pitchFamily="34" charset="-120"/>
              </a:rPr>
              <a:t>• Real-Time Watchers:
</a:t>
            </a:r>
            <a:pPr indent="0" marL="0">
              <a:lnSpc>
                <a:spcPts val="1400"/>
              </a:lnSpc>
              <a:buNone/>
            </a:pPr>
            <a:r>
              <a:rPr lang="en-US" sz="950" dirty="0">
                <a:solidFill>
                  <a:srgbClr val="94A3B8"/>
                </a:solidFill>
                <a:latin typeface="Arial" pitchFamily="34" charset="0"/>
                <a:ea typeface="Arial" pitchFamily="34" charset="-122"/>
                <a:cs typeface="Arial" pitchFamily="34" charset="-120"/>
              </a:rPr>
              <a:t>useWatchContractEvent &amp; 3.5s smart polling sync
</a:t>
            </a:r>
            <a:pPr indent="0" marL="0">
              <a:lnSpc>
                <a:spcPts val="1400"/>
              </a:lnSpc>
              <a:buNone/>
            </a:pPr>
            <a:r>
              <a:rPr lang="en-US" sz="950" b="1" dirty="0">
                <a:solidFill>
                  <a:srgbClr val="FFFFFF"/>
                </a:solidFill>
                <a:latin typeface="Arial" pitchFamily="34" charset="0"/>
                <a:ea typeface="Arial" pitchFamily="34" charset="-122"/>
                <a:cs typeface="Arial" pitchFamily="34" charset="-120"/>
              </a:rPr>
              <a:t>• Cyberpunk UI:
</a:t>
            </a:r>
            <a:pPr indent="0" marL="0">
              <a:lnSpc>
                <a:spcPts val="1400"/>
              </a:lnSpc>
              <a:buNone/>
            </a:pPr>
            <a:r>
              <a:rPr lang="en-US" sz="950" dirty="0">
                <a:solidFill>
                  <a:srgbClr val="94A3B8"/>
                </a:solidFill>
                <a:latin typeface="Arial" pitchFamily="34" charset="0"/>
                <a:ea typeface="Arial" pitchFamily="34" charset="-122"/>
                <a:cs typeface="Arial" pitchFamily="34" charset="-120"/>
              </a:rPr>
              <a:t>Vanilla CSS design system, responsive layout, confetti
</a:t>
            </a:r>
            <a:pPr indent="0" marL="0">
              <a:lnSpc>
                <a:spcPts val="1400"/>
              </a:lnSpc>
              <a:buNone/>
            </a:pPr>
            <a:r>
              <a:rPr lang="en-US" sz="950" b="1" dirty="0">
                <a:solidFill>
                  <a:srgbClr val="FFFFFF"/>
                </a:solidFill>
                <a:latin typeface="Arial" pitchFamily="34" charset="0"/>
                <a:ea typeface="Arial" pitchFamily="34" charset="-122"/>
                <a:cs typeface="Arial" pitchFamily="34" charset="-120"/>
              </a:rPr>
              <a:t>• Zero Web Server:
</a:t>
            </a:r>
            <a:pPr indent="0" marL="0">
              <a:lnSpc>
                <a:spcPts val="1400"/>
              </a:lnSpc>
              <a:buNone/>
            </a:pPr>
            <a:r>
              <a:rPr lang="en-US" sz="950" dirty="0">
                <a:solidFill>
                  <a:srgbClr val="94A3B8"/>
                </a:solidFill>
                <a:latin typeface="Arial" pitchFamily="34" charset="0"/>
                <a:ea typeface="Arial" pitchFamily="34" charset="-122"/>
                <a:cs typeface="Arial" pitchFamily="34" charset="-120"/>
              </a:rPr>
              <a:t>Static SPA with direct decentralized RPC connectivity</a:t>
            </a:r>
            <a:endParaRPr lang="en-US" sz="950" dirty="0"/>
          </a:p>
        </p:txBody>
      </p:sp>
      <p:sp>
        <p:nvSpPr>
          <p:cNvPr id="8" name="Shape 6"/>
          <p:cNvSpPr/>
          <p:nvPr/>
        </p:nvSpPr>
        <p:spPr>
          <a:xfrm>
            <a:off x="4709160" y="1143000"/>
            <a:ext cx="3886200" cy="3566160"/>
          </a:xfrm>
          <a:prstGeom prst="roundRect">
            <a:avLst>
              <a:gd name="adj" fmla="val 2564"/>
            </a:avLst>
          </a:prstGeom>
          <a:solidFill>
            <a:srgbClr val="161F30"/>
          </a:solidFill>
          <a:ln w="19050">
            <a:solidFill>
              <a:srgbClr val="FF2A5F"/>
            </a:solidFill>
            <a:prstDash val="solid"/>
          </a:ln>
        </p:spPr>
      </p:sp>
      <p:sp>
        <p:nvSpPr>
          <p:cNvPr id="9" name="Text 7"/>
          <p:cNvSpPr/>
          <p:nvPr/>
        </p:nvSpPr>
        <p:spPr>
          <a:xfrm>
            <a:off x="4892040" y="1325880"/>
            <a:ext cx="3520440" cy="320040"/>
          </a:xfrm>
          <a:prstGeom prst="rect">
            <a:avLst/>
          </a:prstGeom>
          <a:noFill/>
          <a:ln/>
        </p:spPr>
        <p:txBody>
          <a:bodyPr wrap="square" rtlCol="0" anchor="ctr"/>
          <a:lstStyle/>
          <a:p>
            <a:pPr indent="0" marL="0">
              <a:buNone/>
            </a:pPr>
            <a:r>
              <a:rPr lang="en-US" sz="1300" b="1" dirty="0">
                <a:solidFill>
                  <a:srgbClr val="FF2A5F"/>
                </a:solidFill>
                <a:latin typeface="Arial" pitchFamily="34" charset="0"/>
                <a:ea typeface="Arial" pitchFamily="34" charset="-122"/>
                <a:cs typeface="Arial" pitchFamily="34" charset="-120"/>
              </a:rPr>
              <a:t>Base Sepolia (Chain ID 84532)</a:t>
            </a:r>
            <a:endParaRPr lang="en-US" sz="1300" dirty="0"/>
          </a:p>
        </p:txBody>
      </p:sp>
      <p:sp>
        <p:nvSpPr>
          <p:cNvPr id="10" name="Text 8"/>
          <p:cNvSpPr/>
          <p:nvPr/>
        </p:nvSpPr>
        <p:spPr>
          <a:xfrm>
            <a:off x="4892040" y="1691640"/>
            <a:ext cx="3520440" cy="2834640"/>
          </a:xfrm>
          <a:prstGeom prst="rect">
            <a:avLst/>
          </a:prstGeom>
          <a:noFill/>
          <a:ln/>
        </p:spPr>
        <p:txBody>
          <a:bodyPr wrap="square" rtlCol="0" anchor="ctr"/>
          <a:lstStyle/>
          <a:p>
            <a:pPr indent="0" marL="0">
              <a:lnSpc>
                <a:spcPts val="1400"/>
              </a:lnSpc>
              <a:buNone/>
            </a:pPr>
            <a:r>
              <a:rPr lang="en-US" sz="950" b="1" dirty="0">
                <a:solidFill>
                  <a:srgbClr val="FFFFFF"/>
                </a:solidFill>
                <a:latin typeface="Arial" pitchFamily="34" charset="0"/>
                <a:ea typeface="Arial" pitchFamily="34" charset="-122"/>
                <a:cs typeface="Arial" pitchFamily="34" charset="-120"/>
              </a:rPr>
              <a:t>• TurnChain.sol (0xBbA7...B6db):
</a:t>
            </a:r>
            <a:pPr indent="0" marL="0">
              <a:lnSpc>
                <a:spcPts val="1400"/>
              </a:lnSpc>
              <a:buNone/>
            </a:pPr>
            <a:r>
              <a:rPr lang="en-US" sz="950" dirty="0">
                <a:solidFill>
                  <a:srgbClr val="94A3B8"/>
                </a:solidFill>
                <a:latin typeface="Arial" pitchFamily="34" charset="0"/>
                <a:ea typeface="Arial" pitchFamily="34" charset="-122"/>
                <a:cs typeface="Arial" pitchFamily="34" charset="-120"/>
              </a:rPr>
              <a:t>Sole and final authority for all game state outcomes
</a:t>
            </a:r>
            <a:pPr indent="0" marL="0">
              <a:lnSpc>
                <a:spcPts val="1400"/>
              </a:lnSpc>
              <a:buNone/>
            </a:pPr>
            <a:r>
              <a:rPr lang="en-US" sz="950" b="1" dirty="0">
                <a:solidFill>
                  <a:srgbClr val="FFFFFF"/>
                </a:solidFill>
                <a:latin typeface="Arial" pitchFamily="34" charset="0"/>
                <a:ea typeface="Arial" pitchFamily="34" charset="-122"/>
                <a:cs typeface="Arial" pitchFamily="34" charset="-120"/>
              </a:rPr>
              <a:t>• 7x6 Matrix Storage:
</a:t>
            </a:r>
            <a:pPr indent="0" marL="0">
              <a:lnSpc>
                <a:spcPts val="1400"/>
              </a:lnSpc>
              <a:buNone/>
            </a:pPr>
            <a:r>
              <a:rPr lang="en-US" sz="950" dirty="0">
                <a:solidFill>
                  <a:srgbClr val="94A3B8"/>
                </a:solidFill>
                <a:latin typeface="Arial" pitchFamily="34" charset="0"/>
                <a:ea typeface="Arial" pitchFamily="34" charset="-122"/>
                <a:cs typeface="Arial" pitchFamily="34" charset="-120"/>
              </a:rPr>
              <a:t>uint8[6][7] gravity grid per game ID
</a:t>
            </a:r>
            <a:pPr indent="0" marL="0">
              <a:lnSpc>
                <a:spcPts val="1400"/>
              </a:lnSpc>
              <a:buNone/>
            </a:pPr>
            <a:r>
              <a:rPr lang="en-US" sz="950" b="1" dirty="0">
                <a:solidFill>
                  <a:srgbClr val="FFFFFF"/>
                </a:solidFill>
                <a:latin typeface="Arial" pitchFamily="34" charset="0"/>
                <a:ea typeface="Arial" pitchFamily="34" charset="-122"/>
                <a:cs typeface="Arial" pitchFamily="34" charset="-120"/>
              </a:rPr>
              <a:t>• 4-Axis Pattern Recognition:
</a:t>
            </a:r>
            <a:pPr indent="0" marL="0">
              <a:lnSpc>
                <a:spcPts val="1400"/>
              </a:lnSpc>
              <a:buNone/>
            </a:pPr>
            <a:r>
              <a:rPr lang="en-US" sz="950" dirty="0">
                <a:solidFill>
                  <a:srgbClr val="94A3B8"/>
                </a:solidFill>
                <a:latin typeface="Arial" pitchFamily="34" charset="0"/>
                <a:ea typeface="Arial" pitchFamily="34" charset="-122"/>
                <a:cs typeface="Arial" pitchFamily="34" charset="-120"/>
              </a:rPr>
              <a:t>Horizontal, vertical, positive &amp; negative diagonal
</a:t>
            </a:r>
            <a:pPr indent="0" marL="0">
              <a:lnSpc>
                <a:spcPts val="1400"/>
              </a:lnSpc>
              <a:buNone/>
            </a:pPr>
            <a:r>
              <a:rPr lang="en-US" sz="950" b="1" dirty="0">
                <a:solidFill>
                  <a:srgbClr val="FFFFFF"/>
                </a:solidFill>
                <a:latin typeface="Arial" pitchFamily="34" charset="0"/>
                <a:ea typeface="Arial" pitchFamily="34" charset="-122"/>
                <a:cs typeface="Arial" pitchFamily="34" charset="-120"/>
              </a:rPr>
              <a:t>• State Machine:
</a:t>
            </a:r>
            <a:pPr indent="0" marL="0">
              <a:lnSpc>
                <a:spcPts val="1400"/>
              </a:lnSpc>
              <a:buNone/>
            </a:pPr>
            <a:r>
              <a:rPr lang="en-US" sz="950" dirty="0">
                <a:solidFill>
                  <a:srgbClr val="94A3B8"/>
                </a:solidFill>
                <a:latin typeface="Arial" pitchFamily="34" charset="0"/>
                <a:ea typeface="Arial" pitchFamily="34" charset="-122"/>
                <a:cs typeface="Arial" pitchFamily="34" charset="-120"/>
              </a:rPr>
              <a:t>Waiting -&gt; Active -&gt; Won / Drawn / Forfeited</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0F19"/>
        </a:solidFill>
      </p:bgPr>
    </p:bg>
    <p:spTree>
      <p:nvGrpSpPr>
        <p:cNvPr id="1" name=""/>
        <p:cNvGrpSpPr/>
        <p:nvPr/>
      </p:nvGrpSpPr>
      <p:grpSpPr>
        <a:xfrm>
          <a:off x="0" y="0"/>
          <a:ext cx="0" cy="0"/>
          <a:chOff x="0" y="0"/>
          <a:chExt cx="0" cy="0"/>
        </a:xfrm>
      </p:grpSpPr>
      <p:sp>
        <p:nvSpPr>
          <p:cNvPr id="2" name="Text 0"/>
          <p:cNvSpPr/>
          <p:nvPr/>
        </p:nvSpPr>
        <p:spPr>
          <a:xfrm>
            <a:off x="548640" y="274320"/>
            <a:ext cx="8046720" cy="228600"/>
          </a:xfrm>
          <a:prstGeom prst="rect">
            <a:avLst/>
          </a:prstGeom>
          <a:noFill/>
          <a:ln/>
        </p:spPr>
        <p:txBody>
          <a:bodyPr wrap="square" rtlCol="0" anchor="ctr"/>
          <a:lstStyle/>
          <a:p>
            <a:pPr indent="0" marL="0">
              <a:buNone/>
            </a:pPr>
            <a:r>
              <a:rPr lang="en-US" sz="900" b="1" dirty="0">
                <a:solidFill>
                  <a:srgbClr val="00F0FF"/>
                </a:solidFill>
                <a:latin typeface="Arial" pitchFamily="34" charset="0"/>
                <a:ea typeface="Arial" pitchFamily="34" charset="-122"/>
                <a:cs typeface="Arial" pitchFamily="34" charset="-120"/>
              </a:rPr>
              <a:t>SMART CONTRACT LOGIC</a:t>
            </a:r>
            <a:endParaRPr lang="en-US" sz="900" dirty="0"/>
          </a:p>
        </p:txBody>
      </p:sp>
      <p:sp>
        <p:nvSpPr>
          <p:cNvPr id="3" name="Text 1"/>
          <p:cNvSpPr/>
          <p:nvPr/>
        </p:nvSpPr>
        <p:spPr>
          <a:xfrm>
            <a:off x="548640" y="502920"/>
            <a:ext cx="8046720" cy="411480"/>
          </a:xfrm>
          <a:prstGeom prst="rect">
            <a:avLst/>
          </a:prstGeom>
          <a:noFill/>
          <a:ln/>
        </p:spPr>
        <p:txBody>
          <a:bodyPr wrap="square" rtlCol="0" anchor="ctr"/>
          <a:lstStyle/>
          <a:p>
            <a:pPr indent="0" marL="0">
              <a:buNone/>
            </a:pPr>
            <a:r>
              <a:rPr lang="en-US" sz="1800" b="1" dirty="0">
                <a:solidFill>
                  <a:srgbClr val="FFFFFF"/>
                </a:solidFill>
                <a:latin typeface="Arial" pitchFamily="34" charset="0"/>
                <a:ea typeface="Arial" pitchFamily="34" charset="-122"/>
                <a:cs typeface="Arial" pitchFamily="34" charset="-120"/>
              </a:rPr>
              <a:t>On-Chain Gravity Physics &amp; 4-in-a-Row Pattern Detection</a:t>
            </a:r>
            <a:endParaRPr lang="en-US" sz="1800" dirty="0"/>
          </a:p>
        </p:txBody>
      </p:sp>
      <p:sp>
        <p:nvSpPr>
          <p:cNvPr id="4" name="Shape 2"/>
          <p:cNvSpPr/>
          <p:nvPr/>
        </p:nvSpPr>
        <p:spPr>
          <a:xfrm>
            <a:off x="548640" y="960120"/>
            <a:ext cx="8046720" cy="13716"/>
          </a:xfrm>
          <a:prstGeom prst="rect">
            <a:avLst/>
          </a:prstGeom>
          <a:solidFill>
            <a:srgbClr val="2A3B5C"/>
          </a:solidFill>
          <a:ln/>
        </p:spPr>
      </p:sp>
      <p:sp>
        <p:nvSpPr>
          <p:cNvPr id="5" name="Shape 3"/>
          <p:cNvSpPr/>
          <p:nvPr/>
        </p:nvSpPr>
        <p:spPr>
          <a:xfrm>
            <a:off x="502920" y="1143000"/>
            <a:ext cx="2871216" cy="2944368"/>
          </a:xfrm>
          <a:prstGeom prst="roundRect">
            <a:avLst>
              <a:gd name="adj" fmla="val 2548"/>
            </a:avLst>
          </a:prstGeom>
          <a:solidFill>
            <a:srgbClr val="1E293B"/>
          </a:solidFill>
          <a:ln w="12700">
            <a:solidFill>
              <a:srgbClr val="2A3B5C"/>
            </a:solidFill>
            <a:prstDash val="solid"/>
          </a:ln>
        </p:spPr>
      </p:sp>
      <p:sp>
        <p:nvSpPr>
          <p:cNvPr id="6" name="Text 4"/>
          <p:cNvSpPr/>
          <p:nvPr/>
        </p:nvSpPr>
        <p:spPr>
          <a:xfrm>
            <a:off x="594360" y="3584448"/>
            <a:ext cx="2688336" cy="320040"/>
          </a:xfrm>
          <a:prstGeom prst="rect">
            <a:avLst/>
          </a:prstGeom>
          <a:noFill/>
          <a:ln/>
        </p:spPr>
        <p:txBody>
          <a:bodyPr wrap="square" rtlCol="0" anchor="ctr"/>
          <a:lstStyle/>
          <a:p>
            <a:pPr algn="ctr" indent="0" marL="0">
              <a:buNone/>
            </a:pPr>
            <a:r>
              <a:rPr lang="en-US" sz="900" b="1" dirty="0">
                <a:solidFill>
                  <a:srgbClr val="00F0FF"/>
                </a:solidFill>
                <a:latin typeface="Arial" pitchFamily="34" charset="0"/>
                <a:ea typeface="Arial" pitchFamily="34" charset="-122"/>
                <a:cs typeface="Arial" pitchFamily="34" charset="-120"/>
              </a:rPr>
              <a:t>7x6 Grid Matrix (uint8[6][7])</a:t>
            </a:r>
            <a:endParaRPr lang="en-US" sz="900" dirty="0"/>
          </a:p>
        </p:txBody>
      </p:sp>
      <p:sp>
        <p:nvSpPr>
          <p:cNvPr id="7" name="Shape 5"/>
          <p:cNvSpPr/>
          <p:nvPr/>
        </p:nvSpPr>
        <p:spPr>
          <a:xfrm>
            <a:off x="621792" y="3182112"/>
            <a:ext cx="329184" cy="329184"/>
          </a:xfrm>
          <a:prstGeom prst="ellipse">
            <a:avLst/>
          </a:prstGeom>
          <a:solidFill>
            <a:srgbClr val="334155"/>
          </a:solidFill>
          <a:ln/>
        </p:spPr>
      </p:sp>
      <p:sp>
        <p:nvSpPr>
          <p:cNvPr id="8" name="Shape 6"/>
          <p:cNvSpPr/>
          <p:nvPr/>
        </p:nvSpPr>
        <p:spPr>
          <a:xfrm>
            <a:off x="621792" y="2798064"/>
            <a:ext cx="329184" cy="329184"/>
          </a:xfrm>
          <a:prstGeom prst="ellipse">
            <a:avLst/>
          </a:prstGeom>
          <a:solidFill>
            <a:srgbClr val="334155"/>
          </a:solidFill>
          <a:ln/>
        </p:spPr>
      </p:sp>
      <p:sp>
        <p:nvSpPr>
          <p:cNvPr id="9" name="Shape 7"/>
          <p:cNvSpPr/>
          <p:nvPr/>
        </p:nvSpPr>
        <p:spPr>
          <a:xfrm>
            <a:off x="621792" y="2414016"/>
            <a:ext cx="329184" cy="329184"/>
          </a:xfrm>
          <a:prstGeom prst="ellipse">
            <a:avLst/>
          </a:prstGeom>
          <a:solidFill>
            <a:srgbClr val="334155"/>
          </a:solidFill>
          <a:ln/>
        </p:spPr>
      </p:sp>
      <p:sp>
        <p:nvSpPr>
          <p:cNvPr id="10" name="Shape 8"/>
          <p:cNvSpPr/>
          <p:nvPr/>
        </p:nvSpPr>
        <p:spPr>
          <a:xfrm>
            <a:off x="621792" y="2029968"/>
            <a:ext cx="329184" cy="329184"/>
          </a:xfrm>
          <a:prstGeom prst="ellipse">
            <a:avLst/>
          </a:prstGeom>
          <a:solidFill>
            <a:srgbClr val="334155"/>
          </a:solidFill>
          <a:ln/>
        </p:spPr>
      </p:sp>
      <p:sp>
        <p:nvSpPr>
          <p:cNvPr id="11" name="Shape 9"/>
          <p:cNvSpPr/>
          <p:nvPr/>
        </p:nvSpPr>
        <p:spPr>
          <a:xfrm>
            <a:off x="621792" y="1645920"/>
            <a:ext cx="329184" cy="329184"/>
          </a:xfrm>
          <a:prstGeom prst="ellipse">
            <a:avLst/>
          </a:prstGeom>
          <a:solidFill>
            <a:srgbClr val="334155"/>
          </a:solidFill>
          <a:ln/>
        </p:spPr>
      </p:sp>
      <p:sp>
        <p:nvSpPr>
          <p:cNvPr id="12" name="Shape 10"/>
          <p:cNvSpPr/>
          <p:nvPr/>
        </p:nvSpPr>
        <p:spPr>
          <a:xfrm>
            <a:off x="621792" y="1261872"/>
            <a:ext cx="329184" cy="329184"/>
          </a:xfrm>
          <a:prstGeom prst="ellipse">
            <a:avLst/>
          </a:prstGeom>
          <a:solidFill>
            <a:srgbClr val="334155"/>
          </a:solidFill>
          <a:ln/>
        </p:spPr>
      </p:sp>
      <p:sp>
        <p:nvSpPr>
          <p:cNvPr id="13" name="Shape 11"/>
          <p:cNvSpPr/>
          <p:nvPr/>
        </p:nvSpPr>
        <p:spPr>
          <a:xfrm>
            <a:off x="1005840" y="3182112"/>
            <a:ext cx="329184" cy="329184"/>
          </a:xfrm>
          <a:prstGeom prst="ellipse">
            <a:avLst/>
          </a:prstGeom>
          <a:solidFill>
            <a:srgbClr val="FF2A5F"/>
          </a:solidFill>
          <a:ln/>
        </p:spPr>
      </p:sp>
      <p:sp>
        <p:nvSpPr>
          <p:cNvPr id="14" name="Shape 12"/>
          <p:cNvSpPr/>
          <p:nvPr/>
        </p:nvSpPr>
        <p:spPr>
          <a:xfrm>
            <a:off x="1005840" y="2798064"/>
            <a:ext cx="329184" cy="329184"/>
          </a:xfrm>
          <a:prstGeom prst="ellipse">
            <a:avLst/>
          </a:prstGeom>
          <a:solidFill>
            <a:srgbClr val="334155"/>
          </a:solidFill>
          <a:ln/>
        </p:spPr>
      </p:sp>
      <p:sp>
        <p:nvSpPr>
          <p:cNvPr id="15" name="Shape 13"/>
          <p:cNvSpPr/>
          <p:nvPr/>
        </p:nvSpPr>
        <p:spPr>
          <a:xfrm>
            <a:off x="1005840" y="2414016"/>
            <a:ext cx="329184" cy="329184"/>
          </a:xfrm>
          <a:prstGeom prst="ellipse">
            <a:avLst/>
          </a:prstGeom>
          <a:solidFill>
            <a:srgbClr val="334155"/>
          </a:solidFill>
          <a:ln/>
        </p:spPr>
      </p:sp>
      <p:sp>
        <p:nvSpPr>
          <p:cNvPr id="16" name="Shape 14"/>
          <p:cNvSpPr/>
          <p:nvPr/>
        </p:nvSpPr>
        <p:spPr>
          <a:xfrm>
            <a:off x="1005840" y="2029968"/>
            <a:ext cx="329184" cy="329184"/>
          </a:xfrm>
          <a:prstGeom prst="ellipse">
            <a:avLst/>
          </a:prstGeom>
          <a:solidFill>
            <a:srgbClr val="334155"/>
          </a:solidFill>
          <a:ln/>
        </p:spPr>
      </p:sp>
      <p:sp>
        <p:nvSpPr>
          <p:cNvPr id="17" name="Shape 15"/>
          <p:cNvSpPr/>
          <p:nvPr/>
        </p:nvSpPr>
        <p:spPr>
          <a:xfrm>
            <a:off x="1005840" y="1645920"/>
            <a:ext cx="329184" cy="329184"/>
          </a:xfrm>
          <a:prstGeom prst="ellipse">
            <a:avLst/>
          </a:prstGeom>
          <a:solidFill>
            <a:srgbClr val="334155"/>
          </a:solidFill>
          <a:ln/>
        </p:spPr>
      </p:sp>
      <p:sp>
        <p:nvSpPr>
          <p:cNvPr id="18" name="Shape 16"/>
          <p:cNvSpPr/>
          <p:nvPr/>
        </p:nvSpPr>
        <p:spPr>
          <a:xfrm>
            <a:off x="1005840" y="1261872"/>
            <a:ext cx="329184" cy="329184"/>
          </a:xfrm>
          <a:prstGeom prst="ellipse">
            <a:avLst/>
          </a:prstGeom>
          <a:solidFill>
            <a:srgbClr val="334155"/>
          </a:solidFill>
          <a:ln/>
        </p:spPr>
      </p:sp>
      <p:sp>
        <p:nvSpPr>
          <p:cNvPr id="19" name="Shape 17"/>
          <p:cNvSpPr/>
          <p:nvPr/>
        </p:nvSpPr>
        <p:spPr>
          <a:xfrm>
            <a:off x="1389888" y="3182112"/>
            <a:ext cx="329184" cy="329184"/>
          </a:xfrm>
          <a:prstGeom prst="ellipse">
            <a:avLst/>
          </a:prstGeom>
          <a:solidFill>
            <a:srgbClr val="00F0FF"/>
          </a:solidFill>
          <a:ln/>
        </p:spPr>
      </p:sp>
      <p:sp>
        <p:nvSpPr>
          <p:cNvPr id="20" name="Shape 18"/>
          <p:cNvSpPr/>
          <p:nvPr/>
        </p:nvSpPr>
        <p:spPr>
          <a:xfrm>
            <a:off x="1389888" y="2798064"/>
            <a:ext cx="329184" cy="329184"/>
          </a:xfrm>
          <a:prstGeom prst="ellipse">
            <a:avLst/>
          </a:prstGeom>
          <a:solidFill>
            <a:srgbClr val="FF2A5F"/>
          </a:solidFill>
          <a:ln/>
        </p:spPr>
      </p:sp>
      <p:sp>
        <p:nvSpPr>
          <p:cNvPr id="21" name="Shape 19"/>
          <p:cNvSpPr/>
          <p:nvPr/>
        </p:nvSpPr>
        <p:spPr>
          <a:xfrm>
            <a:off x="1389888" y="2414016"/>
            <a:ext cx="329184" cy="329184"/>
          </a:xfrm>
          <a:prstGeom prst="ellipse">
            <a:avLst/>
          </a:prstGeom>
          <a:solidFill>
            <a:srgbClr val="334155"/>
          </a:solidFill>
          <a:ln/>
        </p:spPr>
      </p:sp>
      <p:sp>
        <p:nvSpPr>
          <p:cNvPr id="22" name="Shape 20"/>
          <p:cNvSpPr/>
          <p:nvPr/>
        </p:nvSpPr>
        <p:spPr>
          <a:xfrm>
            <a:off x="1389888" y="2029968"/>
            <a:ext cx="329184" cy="329184"/>
          </a:xfrm>
          <a:prstGeom prst="ellipse">
            <a:avLst/>
          </a:prstGeom>
          <a:solidFill>
            <a:srgbClr val="334155"/>
          </a:solidFill>
          <a:ln/>
        </p:spPr>
      </p:sp>
      <p:sp>
        <p:nvSpPr>
          <p:cNvPr id="23" name="Shape 21"/>
          <p:cNvSpPr/>
          <p:nvPr/>
        </p:nvSpPr>
        <p:spPr>
          <a:xfrm>
            <a:off x="1389888" y="1645920"/>
            <a:ext cx="329184" cy="329184"/>
          </a:xfrm>
          <a:prstGeom prst="ellipse">
            <a:avLst/>
          </a:prstGeom>
          <a:solidFill>
            <a:srgbClr val="334155"/>
          </a:solidFill>
          <a:ln/>
        </p:spPr>
      </p:sp>
      <p:sp>
        <p:nvSpPr>
          <p:cNvPr id="24" name="Shape 22"/>
          <p:cNvSpPr/>
          <p:nvPr/>
        </p:nvSpPr>
        <p:spPr>
          <a:xfrm>
            <a:off x="1389888" y="1261872"/>
            <a:ext cx="329184" cy="329184"/>
          </a:xfrm>
          <a:prstGeom prst="ellipse">
            <a:avLst/>
          </a:prstGeom>
          <a:solidFill>
            <a:srgbClr val="334155"/>
          </a:solidFill>
          <a:ln/>
        </p:spPr>
      </p:sp>
      <p:sp>
        <p:nvSpPr>
          <p:cNvPr id="25" name="Shape 23"/>
          <p:cNvSpPr/>
          <p:nvPr/>
        </p:nvSpPr>
        <p:spPr>
          <a:xfrm>
            <a:off x="1773936" y="3182112"/>
            <a:ext cx="329184" cy="329184"/>
          </a:xfrm>
          <a:prstGeom prst="ellipse">
            <a:avLst/>
          </a:prstGeom>
          <a:solidFill>
            <a:srgbClr val="334155"/>
          </a:solidFill>
          <a:ln/>
        </p:spPr>
      </p:sp>
      <p:sp>
        <p:nvSpPr>
          <p:cNvPr id="26" name="Shape 24"/>
          <p:cNvSpPr/>
          <p:nvPr/>
        </p:nvSpPr>
        <p:spPr>
          <a:xfrm>
            <a:off x="1773936" y="2798064"/>
            <a:ext cx="329184" cy="329184"/>
          </a:xfrm>
          <a:prstGeom prst="ellipse">
            <a:avLst/>
          </a:prstGeom>
          <a:solidFill>
            <a:srgbClr val="00F0FF"/>
          </a:solidFill>
          <a:ln/>
        </p:spPr>
      </p:sp>
      <p:sp>
        <p:nvSpPr>
          <p:cNvPr id="27" name="Shape 25"/>
          <p:cNvSpPr/>
          <p:nvPr/>
        </p:nvSpPr>
        <p:spPr>
          <a:xfrm>
            <a:off x="1773936" y="2414016"/>
            <a:ext cx="329184" cy="329184"/>
          </a:xfrm>
          <a:prstGeom prst="ellipse">
            <a:avLst/>
          </a:prstGeom>
          <a:solidFill>
            <a:srgbClr val="FF2A5F"/>
          </a:solidFill>
          <a:ln/>
        </p:spPr>
      </p:sp>
      <p:sp>
        <p:nvSpPr>
          <p:cNvPr id="28" name="Shape 26"/>
          <p:cNvSpPr/>
          <p:nvPr/>
        </p:nvSpPr>
        <p:spPr>
          <a:xfrm>
            <a:off x="1773936" y="2029968"/>
            <a:ext cx="329184" cy="329184"/>
          </a:xfrm>
          <a:prstGeom prst="ellipse">
            <a:avLst/>
          </a:prstGeom>
          <a:solidFill>
            <a:srgbClr val="334155"/>
          </a:solidFill>
          <a:ln/>
        </p:spPr>
      </p:sp>
      <p:sp>
        <p:nvSpPr>
          <p:cNvPr id="29" name="Shape 27"/>
          <p:cNvSpPr/>
          <p:nvPr/>
        </p:nvSpPr>
        <p:spPr>
          <a:xfrm>
            <a:off x="1773936" y="1645920"/>
            <a:ext cx="329184" cy="329184"/>
          </a:xfrm>
          <a:prstGeom prst="ellipse">
            <a:avLst/>
          </a:prstGeom>
          <a:solidFill>
            <a:srgbClr val="334155"/>
          </a:solidFill>
          <a:ln/>
        </p:spPr>
      </p:sp>
      <p:sp>
        <p:nvSpPr>
          <p:cNvPr id="30" name="Shape 28"/>
          <p:cNvSpPr/>
          <p:nvPr/>
        </p:nvSpPr>
        <p:spPr>
          <a:xfrm>
            <a:off x="1773936" y="1261872"/>
            <a:ext cx="329184" cy="329184"/>
          </a:xfrm>
          <a:prstGeom prst="ellipse">
            <a:avLst/>
          </a:prstGeom>
          <a:solidFill>
            <a:srgbClr val="334155"/>
          </a:solidFill>
          <a:ln/>
        </p:spPr>
      </p:sp>
      <p:sp>
        <p:nvSpPr>
          <p:cNvPr id="31" name="Shape 29"/>
          <p:cNvSpPr/>
          <p:nvPr/>
        </p:nvSpPr>
        <p:spPr>
          <a:xfrm>
            <a:off x="2157984" y="3182112"/>
            <a:ext cx="329184" cy="329184"/>
          </a:xfrm>
          <a:prstGeom prst="ellipse">
            <a:avLst/>
          </a:prstGeom>
          <a:solidFill>
            <a:srgbClr val="334155"/>
          </a:solidFill>
          <a:ln/>
        </p:spPr>
      </p:sp>
      <p:sp>
        <p:nvSpPr>
          <p:cNvPr id="32" name="Shape 30"/>
          <p:cNvSpPr/>
          <p:nvPr/>
        </p:nvSpPr>
        <p:spPr>
          <a:xfrm>
            <a:off x="2157984" y="2798064"/>
            <a:ext cx="329184" cy="329184"/>
          </a:xfrm>
          <a:prstGeom prst="ellipse">
            <a:avLst/>
          </a:prstGeom>
          <a:solidFill>
            <a:srgbClr val="334155"/>
          </a:solidFill>
          <a:ln/>
        </p:spPr>
      </p:sp>
      <p:sp>
        <p:nvSpPr>
          <p:cNvPr id="33" name="Shape 31"/>
          <p:cNvSpPr/>
          <p:nvPr/>
        </p:nvSpPr>
        <p:spPr>
          <a:xfrm>
            <a:off x="2157984" y="2414016"/>
            <a:ext cx="329184" cy="329184"/>
          </a:xfrm>
          <a:prstGeom prst="ellipse">
            <a:avLst/>
          </a:prstGeom>
          <a:solidFill>
            <a:srgbClr val="00F0FF"/>
          </a:solidFill>
          <a:ln/>
        </p:spPr>
      </p:sp>
      <p:sp>
        <p:nvSpPr>
          <p:cNvPr id="34" name="Shape 32"/>
          <p:cNvSpPr/>
          <p:nvPr/>
        </p:nvSpPr>
        <p:spPr>
          <a:xfrm>
            <a:off x="2157984" y="2029968"/>
            <a:ext cx="329184" cy="329184"/>
          </a:xfrm>
          <a:prstGeom prst="ellipse">
            <a:avLst/>
          </a:prstGeom>
          <a:solidFill>
            <a:srgbClr val="FF2A5F"/>
          </a:solidFill>
          <a:ln/>
        </p:spPr>
      </p:sp>
      <p:sp>
        <p:nvSpPr>
          <p:cNvPr id="35" name="Shape 33"/>
          <p:cNvSpPr/>
          <p:nvPr/>
        </p:nvSpPr>
        <p:spPr>
          <a:xfrm>
            <a:off x="2157984" y="1645920"/>
            <a:ext cx="329184" cy="329184"/>
          </a:xfrm>
          <a:prstGeom prst="ellipse">
            <a:avLst/>
          </a:prstGeom>
          <a:solidFill>
            <a:srgbClr val="334155"/>
          </a:solidFill>
          <a:ln/>
        </p:spPr>
      </p:sp>
      <p:sp>
        <p:nvSpPr>
          <p:cNvPr id="36" name="Shape 34"/>
          <p:cNvSpPr/>
          <p:nvPr/>
        </p:nvSpPr>
        <p:spPr>
          <a:xfrm>
            <a:off x="2157984" y="1261872"/>
            <a:ext cx="329184" cy="329184"/>
          </a:xfrm>
          <a:prstGeom prst="ellipse">
            <a:avLst/>
          </a:prstGeom>
          <a:solidFill>
            <a:srgbClr val="334155"/>
          </a:solidFill>
          <a:ln/>
        </p:spPr>
      </p:sp>
      <p:sp>
        <p:nvSpPr>
          <p:cNvPr id="37" name="Shape 35"/>
          <p:cNvSpPr/>
          <p:nvPr/>
        </p:nvSpPr>
        <p:spPr>
          <a:xfrm>
            <a:off x="2542032" y="3182112"/>
            <a:ext cx="329184" cy="329184"/>
          </a:xfrm>
          <a:prstGeom prst="ellipse">
            <a:avLst/>
          </a:prstGeom>
          <a:solidFill>
            <a:srgbClr val="334155"/>
          </a:solidFill>
          <a:ln/>
        </p:spPr>
      </p:sp>
      <p:sp>
        <p:nvSpPr>
          <p:cNvPr id="38" name="Shape 36"/>
          <p:cNvSpPr/>
          <p:nvPr/>
        </p:nvSpPr>
        <p:spPr>
          <a:xfrm>
            <a:off x="2542032" y="2798064"/>
            <a:ext cx="329184" cy="329184"/>
          </a:xfrm>
          <a:prstGeom prst="ellipse">
            <a:avLst/>
          </a:prstGeom>
          <a:solidFill>
            <a:srgbClr val="334155"/>
          </a:solidFill>
          <a:ln/>
        </p:spPr>
      </p:sp>
      <p:sp>
        <p:nvSpPr>
          <p:cNvPr id="39" name="Shape 37"/>
          <p:cNvSpPr/>
          <p:nvPr/>
        </p:nvSpPr>
        <p:spPr>
          <a:xfrm>
            <a:off x="2542032" y="2414016"/>
            <a:ext cx="329184" cy="329184"/>
          </a:xfrm>
          <a:prstGeom prst="ellipse">
            <a:avLst/>
          </a:prstGeom>
          <a:solidFill>
            <a:srgbClr val="334155"/>
          </a:solidFill>
          <a:ln/>
        </p:spPr>
      </p:sp>
      <p:sp>
        <p:nvSpPr>
          <p:cNvPr id="40" name="Shape 38"/>
          <p:cNvSpPr/>
          <p:nvPr/>
        </p:nvSpPr>
        <p:spPr>
          <a:xfrm>
            <a:off x="2542032" y="2029968"/>
            <a:ext cx="329184" cy="329184"/>
          </a:xfrm>
          <a:prstGeom prst="ellipse">
            <a:avLst/>
          </a:prstGeom>
          <a:solidFill>
            <a:srgbClr val="334155"/>
          </a:solidFill>
          <a:ln/>
        </p:spPr>
      </p:sp>
      <p:sp>
        <p:nvSpPr>
          <p:cNvPr id="41" name="Shape 39"/>
          <p:cNvSpPr/>
          <p:nvPr/>
        </p:nvSpPr>
        <p:spPr>
          <a:xfrm>
            <a:off x="2542032" y="1645920"/>
            <a:ext cx="329184" cy="329184"/>
          </a:xfrm>
          <a:prstGeom prst="ellipse">
            <a:avLst/>
          </a:prstGeom>
          <a:solidFill>
            <a:srgbClr val="334155"/>
          </a:solidFill>
          <a:ln/>
        </p:spPr>
      </p:sp>
      <p:sp>
        <p:nvSpPr>
          <p:cNvPr id="42" name="Shape 40"/>
          <p:cNvSpPr/>
          <p:nvPr/>
        </p:nvSpPr>
        <p:spPr>
          <a:xfrm>
            <a:off x="2542032" y="1261872"/>
            <a:ext cx="329184" cy="329184"/>
          </a:xfrm>
          <a:prstGeom prst="ellipse">
            <a:avLst/>
          </a:prstGeom>
          <a:solidFill>
            <a:srgbClr val="334155"/>
          </a:solidFill>
          <a:ln/>
        </p:spPr>
      </p:sp>
      <p:sp>
        <p:nvSpPr>
          <p:cNvPr id="43" name="Shape 41"/>
          <p:cNvSpPr/>
          <p:nvPr/>
        </p:nvSpPr>
        <p:spPr>
          <a:xfrm>
            <a:off x="2926080" y="3182112"/>
            <a:ext cx="329184" cy="329184"/>
          </a:xfrm>
          <a:prstGeom prst="ellipse">
            <a:avLst/>
          </a:prstGeom>
          <a:solidFill>
            <a:srgbClr val="334155"/>
          </a:solidFill>
          <a:ln/>
        </p:spPr>
      </p:sp>
      <p:sp>
        <p:nvSpPr>
          <p:cNvPr id="44" name="Shape 42"/>
          <p:cNvSpPr/>
          <p:nvPr/>
        </p:nvSpPr>
        <p:spPr>
          <a:xfrm>
            <a:off x="2926080" y="2798064"/>
            <a:ext cx="329184" cy="329184"/>
          </a:xfrm>
          <a:prstGeom prst="ellipse">
            <a:avLst/>
          </a:prstGeom>
          <a:solidFill>
            <a:srgbClr val="334155"/>
          </a:solidFill>
          <a:ln/>
        </p:spPr>
      </p:sp>
      <p:sp>
        <p:nvSpPr>
          <p:cNvPr id="45" name="Shape 43"/>
          <p:cNvSpPr/>
          <p:nvPr/>
        </p:nvSpPr>
        <p:spPr>
          <a:xfrm>
            <a:off x="2926080" y="2414016"/>
            <a:ext cx="329184" cy="329184"/>
          </a:xfrm>
          <a:prstGeom prst="ellipse">
            <a:avLst/>
          </a:prstGeom>
          <a:solidFill>
            <a:srgbClr val="334155"/>
          </a:solidFill>
          <a:ln/>
        </p:spPr>
      </p:sp>
      <p:sp>
        <p:nvSpPr>
          <p:cNvPr id="46" name="Shape 44"/>
          <p:cNvSpPr/>
          <p:nvPr/>
        </p:nvSpPr>
        <p:spPr>
          <a:xfrm>
            <a:off x="2926080" y="2029968"/>
            <a:ext cx="329184" cy="329184"/>
          </a:xfrm>
          <a:prstGeom prst="ellipse">
            <a:avLst/>
          </a:prstGeom>
          <a:solidFill>
            <a:srgbClr val="334155"/>
          </a:solidFill>
          <a:ln/>
        </p:spPr>
      </p:sp>
      <p:sp>
        <p:nvSpPr>
          <p:cNvPr id="47" name="Shape 45"/>
          <p:cNvSpPr/>
          <p:nvPr/>
        </p:nvSpPr>
        <p:spPr>
          <a:xfrm>
            <a:off x="2926080" y="1645920"/>
            <a:ext cx="329184" cy="329184"/>
          </a:xfrm>
          <a:prstGeom prst="ellipse">
            <a:avLst/>
          </a:prstGeom>
          <a:solidFill>
            <a:srgbClr val="334155"/>
          </a:solidFill>
          <a:ln/>
        </p:spPr>
      </p:sp>
      <p:sp>
        <p:nvSpPr>
          <p:cNvPr id="48" name="Shape 46"/>
          <p:cNvSpPr/>
          <p:nvPr/>
        </p:nvSpPr>
        <p:spPr>
          <a:xfrm>
            <a:off x="2926080" y="1261872"/>
            <a:ext cx="329184" cy="329184"/>
          </a:xfrm>
          <a:prstGeom prst="ellipse">
            <a:avLst/>
          </a:prstGeom>
          <a:solidFill>
            <a:srgbClr val="334155"/>
          </a:solidFill>
          <a:ln/>
        </p:spPr>
      </p:sp>
      <p:sp>
        <p:nvSpPr>
          <p:cNvPr id="49" name="Shape 47"/>
          <p:cNvSpPr/>
          <p:nvPr/>
        </p:nvSpPr>
        <p:spPr>
          <a:xfrm>
            <a:off x="3794760" y="1143000"/>
            <a:ext cx="4800600" cy="3566160"/>
          </a:xfrm>
          <a:prstGeom prst="roundRect">
            <a:avLst>
              <a:gd name="adj" fmla="val 2564"/>
            </a:avLst>
          </a:prstGeom>
          <a:solidFill>
            <a:srgbClr val="161F30"/>
          </a:solidFill>
          <a:ln w="12700">
            <a:solidFill>
              <a:srgbClr val="2A3B5C"/>
            </a:solidFill>
            <a:prstDash val="solid"/>
          </a:ln>
        </p:spPr>
      </p:sp>
      <p:sp>
        <p:nvSpPr>
          <p:cNvPr id="50" name="Text 48"/>
          <p:cNvSpPr/>
          <p:nvPr/>
        </p:nvSpPr>
        <p:spPr>
          <a:xfrm>
            <a:off x="3977640" y="1280160"/>
            <a:ext cx="4434840" cy="3291840"/>
          </a:xfrm>
          <a:prstGeom prst="rect">
            <a:avLst/>
          </a:prstGeom>
          <a:noFill/>
          <a:ln/>
        </p:spPr>
        <p:txBody>
          <a:bodyPr wrap="square" rtlCol="0" anchor="ctr"/>
          <a:lstStyle/>
          <a:p>
            <a:pPr indent="0" marL="0">
              <a:buNone/>
            </a:pPr>
            <a:r>
              <a:rPr lang="en-US" sz="1100" b="1" dirty="0">
                <a:solidFill>
                  <a:srgbClr val="00F0FF"/>
                </a:solidFill>
                <a:latin typeface="Arial" pitchFamily="34" charset="0"/>
                <a:ea typeface="Arial" pitchFamily="34" charset="-122"/>
                <a:cs typeface="Arial" pitchFamily="34" charset="-120"/>
              </a:rPr>
              <a:t>1. Gravity Slot Calculation:
</a:t>
            </a:r>
            <a:pPr indent="0" marL="0">
              <a:buNone/>
            </a:pPr>
            <a:r>
              <a:rPr lang="en-US" sz="950" dirty="0">
                <a:solidFill>
                  <a:srgbClr val="94A3B8"/>
                </a:solidFill>
                <a:latin typeface="Arial" pitchFamily="34" charset="0"/>
                <a:ea typeface="Arial" pitchFamily="34" charset="-122"/>
                <a:cs typeface="Arial" pitchFamily="34" charset="-120"/>
              </a:rPr>
              <a:t>Discs drop to lowest unoccupied row in column (0–6). Reverts with ColumnFull if full.
</a:t>
            </a:r>
            <a:pPr indent="0" marL="0">
              <a:buNone/>
            </a:pPr>
            <a:r>
              <a:rPr lang="en-US" sz="1100" b="1" dirty="0">
                <a:solidFill>
                  <a:srgbClr val="FF2A5F"/>
                </a:solidFill>
                <a:latin typeface="Arial" pitchFamily="34" charset="0"/>
                <a:ea typeface="Arial" pitchFamily="34" charset="-122"/>
                <a:cs typeface="Arial" pitchFamily="34" charset="-120"/>
              </a:rPr>
              <a:t>2. Vector Pattern Recognition:
</a:t>
            </a:r>
            <a:pPr indent="0" marL="0">
              <a:buNone/>
            </a:pPr>
            <a:r>
              <a:rPr lang="en-US" sz="950" dirty="0">
                <a:solidFill>
                  <a:srgbClr val="94A3B8"/>
                </a:solidFill>
                <a:latin typeface="Arial" pitchFamily="34" charset="0"/>
                <a:ea typeface="Arial" pitchFamily="34" charset="-122"/>
                <a:cs typeface="Arial" pitchFamily="34" charset="-120"/>
              </a:rPr>
              <a:t>Checks 4 contiguous discs in Horizontal (dx=1, dy=0), Vertical (dx=0, dy=1), Diagonal Positive (dx=1, dy=1), and Diagonal Negative (dx=1, dy=-1).
</a:t>
            </a:r>
            <a:pPr indent="0" marL="0">
              <a:buNone/>
            </a:pPr>
            <a:r>
              <a:rPr lang="en-US" sz="1100" b="1" dirty="0">
                <a:solidFill>
                  <a:srgbClr val="F59E0B"/>
                </a:solidFill>
                <a:latin typeface="Arial" pitchFamily="34" charset="0"/>
                <a:ea typeface="Arial" pitchFamily="34" charset="-122"/>
                <a:cs typeface="Arial" pitchFamily="34" charset="-120"/>
              </a:rPr>
              <a:t>3. Full-Board Draw Detection:
</a:t>
            </a:r>
            <a:pPr indent="0" marL="0">
              <a:buNone/>
            </a:pPr>
            <a:r>
              <a:rPr lang="en-US" sz="950" dirty="0">
                <a:solidFill>
                  <a:srgbClr val="94A3B8"/>
                </a:solidFill>
                <a:latin typeface="Arial" pitchFamily="34" charset="0"/>
                <a:ea typeface="Arial" pitchFamily="34" charset="-122"/>
                <a:cs typeface="Arial" pitchFamily="34" charset="-120"/>
              </a:rPr>
              <a:t>Declared automatically if moveCount == 42 without any 4-in-a-row.
</a:t>
            </a:r>
            <a:pPr indent="0" marL="0">
              <a:buNone/>
            </a:pPr>
            <a:r>
              <a:rPr lang="en-US" sz="1100" b="1" dirty="0">
                <a:solidFill>
                  <a:srgbClr val="10B981"/>
                </a:solidFill>
                <a:latin typeface="Arial" pitchFamily="34" charset="0"/>
                <a:ea typeface="Arial" pitchFamily="34" charset="-122"/>
                <a:cs typeface="Arial" pitchFamily="34" charset="-120"/>
              </a:rPr>
              <a:t>4. Inactivity Forfeit Guard:
</a:t>
            </a:r>
            <a:pPr indent="0" marL="0">
              <a:buNone/>
            </a:pPr>
            <a:r>
              <a:rPr lang="en-US" sz="950" dirty="0">
                <a:solidFill>
                  <a:srgbClr val="94A3B8"/>
                </a:solidFill>
                <a:latin typeface="Arial" pitchFamily="34" charset="0"/>
                <a:ea typeface="Arial" pitchFamily="34" charset="-122"/>
                <a:cs typeface="Arial" pitchFamily="34" charset="-120"/>
              </a:rPr>
              <a:t>claimTimeout(gameId) awards victory if active turn player stalls &gt; 24 hours.</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0F19"/>
        </a:solidFill>
      </p:bgPr>
    </p:bg>
    <p:spTree>
      <p:nvGrpSpPr>
        <p:cNvPr id="1" name=""/>
        <p:cNvGrpSpPr/>
        <p:nvPr/>
      </p:nvGrpSpPr>
      <p:grpSpPr>
        <a:xfrm>
          <a:off x="0" y="0"/>
          <a:ext cx="0" cy="0"/>
          <a:chOff x="0" y="0"/>
          <a:chExt cx="0" cy="0"/>
        </a:xfrm>
      </p:grpSpPr>
      <p:sp>
        <p:nvSpPr>
          <p:cNvPr id="2" name="Text 0"/>
          <p:cNvSpPr/>
          <p:nvPr/>
        </p:nvSpPr>
        <p:spPr>
          <a:xfrm>
            <a:off x="548640" y="274320"/>
            <a:ext cx="8046720" cy="228600"/>
          </a:xfrm>
          <a:prstGeom prst="rect">
            <a:avLst/>
          </a:prstGeom>
          <a:noFill/>
          <a:ln/>
        </p:spPr>
        <p:txBody>
          <a:bodyPr wrap="square" rtlCol="0" anchor="ctr"/>
          <a:lstStyle/>
          <a:p>
            <a:pPr indent="0" marL="0">
              <a:buNone/>
            </a:pPr>
            <a:r>
              <a:rPr lang="en-US" sz="900" b="1" dirty="0">
                <a:solidFill>
                  <a:srgbClr val="00F0FF"/>
                </a:solidFill>
                <a:latin typeface="Arial" pitchFamily="34" charset="0"/>
                <a:ea typeface="Arial" pitchFamily="34" charset="-122"/>
                <a:cs typeface="Arial" pitchFamily="34" charset="-120"/>
              </a:rPr>
              <a:t>FRONTEND &amp; UX</a:t>
            </a:r>
            <a:endParaRPr lang="en-US" sz="900" dirty="0"/>
          </a:p>
        </p:txBody>
      </p:sp>
      <p:sp>
        <p:nvSpPr>
          <p:cNvPr id="3" name="Text 1"/>
          <p:cNvSpPr/>
          <p:nvPr/>
        </p:nvSpPr>
        <p:spPr>
          <a:xfrm>
            <a:off x="548640" y="502920"/>
            <a:ext cx="8046720" cy="411480"/>
          </a:xfrm>
          <a:prstGeom prst="rect">
            <a:avLst/>
          </a:prstGeom>
          <a:noFill/>
          <a:ln/>
        </p:spPr>
        <p:txBody>
          <a:bodyPr wrap="square" rtlCol="0" anchor="ctr"/>
          <a:lstStyle/>
          <a:p>
            <a:pPr indent="0" marL="0">
              <a:buNone/>
            </a:pPr>
            <a:r>
              <a:rPr lang="en-US" sz="1800" b="1" dirty="0">
                <a:solidFill>
                  <a:srgbClr val="FFFFFF"/>
                </a:solidFill>
                <a:latin typeface="Arial" pitchFamily="34" charset="0"/>
                <a:ea typeface="Arial" pitchFamily="34" charset="-122"/>
                <a:cs typeface="Arial" pitchFamily="34" charset="-120"/>
              </a:rPr>
              <a:t>Cyberpunk Interface &amp; Reactive Web3 Integration</a:t>
            </a:r>
            <a:endParaRPr lang="en-US" sz="1800" dirty="0"/>
          </a:p>
        </p:txBody>
      </p:sp>
      <p:sp>
        <p:nvSpPr>
          <p:cNvPr id="4" name="Shape 2"/>
          <p:cNvSpPr/>
          <p:nvPr/>
        </p:nvSpPr>
        <p:spPr>
          <a:xfrm>
            <a:off x="548640" y="960120"/>
            <a:ext cx="8046720" cy="13716"/>
          </a:xfrm>
          <a:prstGeom prst="rect">
            <a:avLst/>
          </a:prstGeom>
          <a:solidFill>
            <a:srgbClr val="2A3B5C"/>
          </a:solidFill>
          <a:ln/>
        </p:spPr>
      </p:sp>
      <p:sp>
        <p:nvSpPr>
          <p:cNvPr id="5" name="Shape 3"/>
          <p:cNvSpPr/>
          <p:nvPr/>
        </p:nvSpPr>
        <p:spPr>
          <a:xfrm>
            <a:off x="548640" y="1143000"/>
            <a:ext cx="3886200" cy="1691640"/>
          </a:xfrm>
          <a:prstGeom prst="roundRect">
            <a:avLst>
              <a:gd name="adj" fmla="val 5405"/>
            </a:avLst>
          </a:prstGeom>
          <a:solidFill>
            <a:srgbClr val="161F30"/>
          </a:solidFill>
          <a:ln w="12700">
            <a:solidFill>
              <a:srgbClr val="2A3B5C"/>
            </a:solidFill>
            <a:prstDash val="solid"/>
          </a:ln>
        </p:spPr>
      </p:sp>
      <p:sp>
        <p:nvSpPr>
          <p:cNvPr id="6" name="Text 4"/>
          <p:cNvSpPr/>
          <p:nvPr/>
        </p:nvSpPr>
        <p:spPr>
          <a:xfrm>
            <a:off x="731520" y="1280160"/>
            <a:ext cx="3520440" cy="320040"/>
          </a:xfrm>
          <a:prstGeom prst="rect">
            <a:avLst/>
          </a:prstGeom>
          <a:noFill/>
          <a:ln/>
        </p:spPr>
        <p:txBody>
          <a:bodyPr wrap="square" rtlCol="0" anchor="ctr"/>
          <a:lstStyle/>
          <a:p>
            <a:pPr indent="0" marL="0">
              <a:buNone/>
            </a:pPr>
            <a:r>
              <a:rPr lang="en-US" sz="1200" b="1" dirty="0">
                <a:solidFill>
                  <a:srgbClr val="00F0FF"/>
                </a:solidFill>
                <a:latin typeface="Arial" pitchFamily="34" charset="0"/>
                <a:ea typeface="Arial" pitchFamily="34" charset="-122"/>
                <a:cs typeface="Arial" pitchFamily="34" charset="-120"/>
              </a:rPr>
              <a:t>Chain Switching &amp; Faucets</a:t>
            </a:r>
            <a:endParaRPr lang="en-US" sz="1200" dirty="0"/>
          </a:p>
        </p:txBody>
      </p:sp>
      <p:sp>
        <p:nvSpPr>
          <p:cNvPr id="7" name="Text 5"/>
          <p:cNvSpPr/>
          <p:nvPr/>
        </p:nvSpPr>
        <p:spPr>
          <a:xfrm>
            <a:off x="731520" y="1645920"/>
            <a:ext cx="3520440" cy="1051560"/>
          </a:xfrm>
          <a:prstGeom prst="rect">
            <a:avLst/>
          </a:prstGeom>
          <a:noFill/>
          <a:ln/>
        </p:spPr>
        <p:txBody>
          <a:bodyPr wrap="square" rtlCol="0" anchor="ctr"/>
          <a:lstStyle/>
          <a:p>
            <a:pPr indent="0" marL="0">
              <a:lnSpc>
                <a:spcPts val="1500"/>
              </a:lnSpc>
              <a:buNone/>
            </a:pPr>
            <a:r>
              <a:rPr lang="en-US" sz="950" dirty="0">
                <a:solidFill>
                  <a:srgbClr val="94A3B8"/>
                </a:solidFill>
                <a:latin typeface="Arial" pitchFamily="34" charset="0"/>
                <a:ea typeface="Arial" pitchFamily="34" charset="-122"/>
                <a:cs typeface="Arial" pitchFamily="34" charset="-120"/>
              </a:rPr>
              <a:t>Automatic prompt when on wrong network. Direct in-app faucet directory for Base Sepolia testnet ETH.</a:t>
            </a:r>
            <a:endParaRPr lang="en-US" sz="950" dirty="0"/>
          </a:p>
        </p:txBody>
      </p:sp>
      <p:sp>
        <p:nvSpPr>
          <p:cNvPr id="8" name="Shape 6"/>
          <p:cNvSpPr/>
          <p:nvPr/>
        </p:nvSpPr>
        <p:spPr>
          <a:xfrm>
            <a:off x="4709160" y="1143000"/>
            <a:ext cx="3886200" cy="1691640"/>
          </a:xfrm>
          <a:prstGeom prst="roundRect">
            <a:avLst>
              <a:gd name="adj" fmla="val 5405"/>
            </a:avLst>
          </a:prstGeom>
          <a:solidFill>
            <a:srgbClr val="161F30"/>
          </a:solidFill>
          <a:ln w="12700">
            <a:solidFill>
              <a:srgbClr val="2A3B5C"/>
            </a:solidFill>
            <a:prstDash val="solid"/>
          </a:ln>
        </p:spPr>
      </p:sp>
      <p:sp>
        <p:nvSpPr>
          <p:cNvPr id="9" name="Text 7"/>
          <p:cNvSpPr/>
          <p:nvPr/>
        </p:nvSpPr>
        <p:spPr>
          <a:xfrm>
            <a:off x="4892040" y="1280160"/>
            <a:ext cx="3520440" cy="320040"/>
          </a:xfrm>
          <a:prstGeom prst="rect">
            <a:avLst/>
          </a:prstGeom>
          <a:noFill/>
          <a:ln/>
        </p:spPr>
        <p:txBody>
          <a:bodyPr wrap="square" rtlCol="0" anchor="ctr"/>
          <a:lstStyle/>
          <a:p>
            <a:pPr indent="0" marL="0">
              <a:buNone/>
            </a:pPr>
            <a:r>
              <a:rPr lang="en-US" sz="1200" b="1" dirty="0">
                <a:solidFill>
                  <a:srgbClr val="00F0FF"/>
                </a:solidFill>
                <a:latin typeface="Arial" pitchFamily="34" charset="0"/>
                <a:ea typeface="Arial" pitchFamily="34" charset="-122"/>
                <a:cs typeface="Arial" pitchFamily="34" charset="-120"/>
              </a:rPr>
              <a:t>Invite Link Deep Routing</a:t>
            </a:r>
            <a:endParaRPr lang="en-US" sz="1200" dirty="0"/>
          </a:p>
        </p:txBody>
      </p:sp>
      <p:sp>
        <p:nvSpPr>
          <p:cNvPr id="10" name="Text 8"/>
          <p:cNvSpPr/>
          <p:nvPr/>
        </p:nvSpPr>
        <p:spPr>
          <a:xfrm>
            <a:off x="4892040" y="1645920"/>
            <a:ext cx="3520440" cy="1051560"/>
          </a:xfrm>
          <a:prstGeom prst="rect">
            <a:avLst/>
          </a:prstGeom>
          <a:noFill/>
          <a:ln/>
        </p:spPr>
        <p:txBody>
          <a:bodyPr wrap="square" rtlCol="0" anchor="ctr"/>
          <a:lstStyle/>
          <a:p>
            <a:pPr indent="0" marL="0">
              <a:lnSpc>
                <a:spcPts val="1500"/>
              </a:lnSpc>
              <a:buNone/>
            </a:pPr>
            <a:r>
              <a:rPr lang="en-US" sz="950" dirty="0">
                <a:solidFill>
                  <a:srgbClr val="94A3B8"/>
                </a:solidFill>
                <a:latin typeface="Arial" pitchFamily="34" charset="0"/>
                <a:ea typeface="Arial" pitchFamily="34" charset="-122"/>
                <a:cs typeface="Arial" pitchFamily="34" charset="-120"/>
              </a:rPr>
              <a:t>Creators share /?gameId=1. Joining players see instant live match state and 'Join Match as Player 2' button.</a:t>
            </a:r>
            <a:endParaRPr lang="en-US" sz="950" dirty="0"/>
          </a:p>
        </p:txBody>
      </p:sp>
      <p:sp>
        <p:nvSpPr>
          <p:cNvPr id="11" name="Shape 9"/>
          <p:cNvSpPr/>
          <p:nvPr/>
        </p:nvSpPr>
        <p:spPr>
          <a:xfrm>
            <a:off x="548640" y="2971800"/>
            <a:ext cx="3886200" cy="1691640"/>
          </a:xfrm>
          <a:prstGeom prst="roundRect">
            <a:avLst>
              <a:gd name="adj" fmla="val 5405"/>
            </a:avLst>
          </a:prstGeom>
          <a:solidFill>
            <a:srgbClr val="161F30"/>
          </a:solidFill>
          <a:ln w="12700">
            <a:solidFill>
              <a:srgbClr val="2A3B5C"/>
            </a:solidFill>
            <a:prstDash val="solid"/>
          </a:ln>
        </p:spPr>
      </p:sp>
      <p:sp>
        <p:nvSpPr>
          <p:cNvPr id="12" name="Text 10"/>
          <p:cNvSpPr/>
          <p:nvPr/>
        </p:nvSpPr>
        <p:spPr>
          <a:xfrm>
            <a:off x="731520" y="3108960"/>
            <a:ext cx="3520440" cy="320040"/>
          </a:xfrm>
          <a:prstGeom prst="rect">
            <a:avLst/>
          </a:prstGeom>
          <a:noFill/>
          <a:ln/>
        </p:spPr>
        <p:txBody>
          <a:bodyPr wrap="square" rtlCol="0" anchor="ctr"/>
          <a:lstStyle/>
          <a:p>
            <a:pPr indent="0" marL="0">
              <a:buNone/>
            </a:pPr>
            <a:r>
              <a:rPr lang="en-US" sz="1200" b="1" dirty="0">
                <a:solidFill>
                  <a:srgbClr val="00F0FF"/>
                </a:solidFill>
                <a:latin typeface="Arial" pitchFamily="34" charset="0"/>
                <a:ea typeface="Arial" pitchFamily="34" charset="-122"/>
                <a:cs typeface="Arial" pitchFamily="34" charset="-120"/>
              </a:rPr>
              <a:t>Column Hover &amp; Animations</a:t>
            </a:r>
            <a:endParaRPr lang="en-US" sz="1200" dirty="0"/>
          </a:p>
        </p:txBody>
      </p:sp>
      <p:sp>
        <p:nvSpPr>
          <p:cNvPr id="13" name="Text 11"/>
          <p:cNvSpPr/>
          <p:nvPr/>
        </p:nvSpPr>
        <p:spPr>
          <a:xfrm>
            <a:off x="731520" y="3474720"/>
            <a:ext cx="3520440" cy="1051560"/>
          </a:xfrm>
          <a:prstGeom prst="rect">
            <a:avLst/>
          </a:prstGeom>
          <a:noFill/>
          <a:ln/>
        </p:spPr>
        <p:txBody>
          <a:bodyPr wrap="square" rtlCol="0" anchor="ctr"/>
          <a:lstStyle/>
          <a:p>
            <a:pPr indent="0" marL="0">
              <a:lnSpc>
                <a:spcPts val="1500"/>
              </a:lnSpc>
              <a:buNone/>
            </a:pPr>
            <a:r>
              <a:rPr lang="en-US" sz="950" dirty="0">
                <a:solidFill>
                  <a:srgbClr val="94A3B8"/>
                </a:solidFill>
                <a:latin typeface="Arial" pitchFamily="34" charset="0"/>
                <a:ea typeface="Arial" pitchFamily="34" charset="-122"/>
                <a:cs typeface="Arial" pitchFamily="34" charset="-120"/>
              </a:rPr>
              <a:t>Drop preview indicators, pulsing turn badge, piece-fall CSS transitions, and celebratory winner confetti.</a:t>
            </a:r>
            <a:endParaRPr lang="en-US" sz="950" dirty="0"/>
          </a:p>
        </p:txBody>
      </p:sp>
      <p:sp>
        <p:nvSpPr>
          <p:cNvPr id="14" name="Shape 12"/>
          <p:cNvSpPr/>
          <p:nvPr/>
        </p:nvSpPr>
        <p:spPr>
          <a:xfrm>
            <a:off x="4709160" y="2971800"/>
            <a:ext cx="3886200" cy="1691640"/>
          </a:xfrm>
          <a:prstGeom prst="roundRect">
            <a:avLst>
              <a:gd name="adj" fmla="val 5405"/>
            </a:avLst>
          </a:prstGeom>
          <a:solidFill>
            <a:srgbClr val="161F30"/>
          </a:solidFill>
          <a:ln w="12700">
            <a:solidFill>
              <a:srgbClr val="2A3B5C"/>
            </a:solidFill>
            <a:prstDash val="solid"/>
          </a:ln>
        </p:spPr>
      </p:sp>
      <p:sp>
        <p:nvSpPr>
          <p:cNvPr id="15" name="Text 13"/>
          <p:cNvSpPr/>
          <p:nvPr/>
        </p:nvSpPr>
        <p:spPr>
          <a:xfrm>
            <a:off x="4892040" y="3108960"/>
            <a:ext cx="3520440" cy="320040"/>
          </a:xfrm>
          <a:prstGeom prst="rect">
            <a:avLst/>
          </a:prstGeom>
          <a:noFill/>
          <a:ln/>
        </p:spPr>
        <p:txBody>
          <a:bodyPr wrap="square" rtlCol="0" anchor="ctr"/>
          <a:lstStyle/>
          <a:p>
            <a:pPr indent="0" marL="0">
              <a:buNone/>
            </a:pPr>
            <a:r>
              <a:rPr lang="en-US" sz="1200" b="1" dirty="0">
                <a:solidFill>
                  <a:srgbClr val="00F0FF"/>
                </a:solidFill>
                <a:latin typeface="Arial" pitchFamily="34" charset="0"/>
                <a:ea typeface="Arial" pitchFamily="34" charset="-122"/>
                <a:cs typeface="Arial" pitchFamily="34" charset="-120"/>
              </a:rPr>
              <a:t>Real-Time Event Sync</a:t>
            </a:r>
            <a:endParaRPr lang="en-US" sz="1200" dirty="0"/>
          </a:p>
        </p:txBody>
      </p:sp>
      <p:sp>
        <p:nvSpPr>
          <p:cNvPr id="16" name="Text 14"/>
          <p:cNvSpPr/>
          <p:nvPr/>
        </p:nvSpPr>
        <p:spPr>
          <a:xfrm>
            <a:off x="4892040" y="3474720"/>
            <a:ext cx="3520440" cy="1051560"/>
          </a:xfrm>
          <a:prstGeom prst="rect">
            <a:avLst/>
          </a:prstGeom>
          <a:noFill/>
          <a:ln/>
        </p:spPr>
        <p:txBody>
          <a:bodyPr wrap="square" rtlCol="0" anchor="ctr"/>
          <a:lstStyle/>
          <a:p>
            <a:pPr indent="0" marL="0">
              <a:lnSpc>
                <a:spcPts val="1500"/>
              </a:lnSpc>
              <a:buNone/>
            </a:pPr>
            <a:r>
              <a:rPr lang="en-US" sz="950" dirty="0">
                <a:solidFill>
                  <a:srgbClr val="94A3B8"/>
                </a:solidFill>
                <a:latin typeface="Arial" pitchFamily="34" charset="0"/>
                <a:ea typeface="Arial" pitchFamily="34" charset="-122"/>
                <a:cs typeface="Arial" pitchFamily="34" charset="-120"/>
              </a:rPr>
              <a:t>Wagmi event listeners + 3.5s active match polling guarantee real-time board updates as opponent transactions confirm.</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0F19"/>
        </a:solidFill>
      </p:bgPr>
    </p:bg>
    <p:spTree>
      <p:nvGrpSpPr>
        <p:cNvPr id="1" name=""/>
        <p:cNvGrpSpPr/>
        <p:nvPr/>
      </p:nvGrpSpPr>
      <p:grpSpPr>
        <a:xfrm>
          <a:off x="0" y="0"/>
          <a:ext cx="0" cy="0"/>
          <a:chOff x="0" y="0"/>
          <a:chExt cx="0" cy="0"/>
        </a:xfrm>
      </p:grpSpPr>
      <p:sp>
        <p:nvSpPr>
          <p:cNvPr id="2" name="Text 0"/>
          <p:cNvSpPr/>
          <p:nvPr/>
        </p:nvSpPr>
        <p:spPr>
          <a:xfrm>
            <a:off x="548640" y="274320"/>
            <a:ext cx="8046720" cy="228600"/>
          </a:xfrm>
          <a:prstGeom prst="rect">
            <a:avLst/>
          </a:prstGeom>
          <a:noFill/>
          <a:ln/>
        </p:spPr>
        <p:txBody>
          <a:bodyPr wrap="square" rtlCol="0" anchor="ctr"/>
          <a:lstStyle/>
          <a:p>
            <a:pPr indent="0" marL="0">
              <a:buNone/>
            </a:pPr>
            <a:r>
              <a:rPr lang="en-US" sz="900" b="1" dirty="0">
                <a:solidFill>
                  <a:srgbClr val="00F0FF"/>
                </a:solidFill>
                <a:latin typeface="Arial" pitchFamily="34" charset="0"/>
                <a:ea typeface="Arial" pitchFamily="34" charset="-122"/>
                <a:cs typeface="Arial" pitchFamily="34" charset="-120"/>
              </a:rPr>
              <a:t>VERIFICATION &amp; DEPLOYMENT</a:t>
            </a:r>
            <a:endParaRPr lang="en-US" sz="900" dirty="0"/>
          </a:p>
        </p:txBody>
      </p:sp>
      <p:sp>
        <p:nvSpPr>
          <p:cNvPr id="3" name="Text 1"/>
          <p:cNvSpPr/>
          <p:nvPr/>
        </p:nvSpPr>
        <p:spPr>
          <a:xfrm>
            <a:off x="548640" y="502920"/>
            <a:ext cx="8046720" cy="411480"/>
          </a:xfrm>
          <a:prstGeom prst="rect">
            <a:avLst/>
          </a:prstGeom>
          <a:noFill/>
          <a:ln/>
        </p:spPr>
        <p:txBody>
          <a:bodyPr wrap="square" rtlCol="0" anchor="ctr"/>
          <a:lstStyle/>
          <a:p>
            <a:pPr indent="0" marL="0">
              <a:buNone/>
            </a:pPr>
            <a:r>
              <a:rPr lang="en-US" sz="1800" b="1" dirty="0">
                <a:solidFill>
                  <a:srgbClr val="FFFFFF"/>
                </a:solidFill>
                <a:latin typeface="Arial" pitchFamily="34" charset="0"/>
                <a:ea typeface="Arial" pitchFamily="34" charset="-122"/>
                <a:cs typeface="Arial" pitchFamily="34" charset="-120"/>
              </a:rPr>
              <a:t>Foundry Test Suite &amp; Live Base Sepolia Deployment</a:t>
            </a:r>
            <a:endParaRPr lang="en-US" sz="1800" dirty="0"/>
          </a:p>
        </p:txBody>
      </p:sp>
      <p:sp>
        <p:nvSpPr>
          <p:cNvPr id="4" name="Shape 2"/>
          <p:cNvSpPr/>
          <p:nvPr/>
        </p:nvSpPr>
        <p:spPr>
          <a:xfrm>
            <a:off x="548640" y="960120"/>
            <a:ext cx="8046720" cy="13716"/>
          </a:xfrm>
          <a:prstGeom prst="rect">
            <a:avLst/>
          </a:prstGeom>
          <a:solidFill>
            <a:srgbClr val="2A3B5C"/>
          </a:solidFill>
          <a:ln/>
        </p:spPr>
      </p:sp>
      <p:sp>
        <p:nvSpPr>
          <p:cNvPr id="5" name="Shape 3"/>
          <p:cNvSpPr/>
          <p:nvPr/>
        </p:nvSpPr>
        <p:spPr>
          <a:xfrm>
            <a:off x="548640" y="1143000"/>
            <a:ext cx="3886200" cy="3566160"/>
          </a:xfrm>
          <a:prstGeom prst="roundRect">
            <a:avLst>
              <a:gd name="adj" fmla="val 2564"/>
            </a:avLst>
          </a:prstGeom>
          <a:solidFill>
            <a:srgbClr val="161F30"/>
          </a:solidFill>
          <a:ln w="19050">
            <a:solidFill>
              <a:srgbClr val="10B981"/>
            </a:solidFill>
            <a:prstDash val="solid"/>
          </a:ln>
        </p:spPr>
      </p:sp>
      <p:sp>
        <p:nvSpPr>
          <p:cNvPr id="6" name="Text 4"/>
          <p:cNvSpPr/>
          <p:nvPr/>
        </p:nvSpPr>
        <p:spPr>
          <a:xfrm>
            <a:off x="731520" y="1325880"/>
            <a:ext cx="3520440" cy="320040"/>
          </a:xfrm>
          <a:prstGeom prst="rect">
            <a:avLst/>
          </a:prstGeom>
          <a:noFill/>
          <a:ln/>
        </p:spPr>
        <p:txBody>
          <a:bodyPr wrap="square" rtlCol="0" anchor="ctr"/>
          <a:lstStyle/>
          <a:p>
            <a:pPr indent="0" marL="0">
              <a:buNone/>
            </a:pPr>
            <a:r>
              <a:rPr lang="en-US" sz="1300" b="1" dirty="0">
                <a:solidFill>
                  <a:srgbClr val="10B981"/>
                </a:solidFill>
                <a:latin typeface="Arial" pitchFamily="34" charset="0"/>
                <a:ea typeface="Arial" pitchFamily="34" charset="-122"/>
                <a:cs typeface="Arial" pitchFamily="34" charset="-120"/>
              </a:rPr>
              <a:t>Foundry Test Suite (22 Passed)</a:t>
            </a:r>
            <a:endParaRPr lang="en-US" sz="1300" dirty="0"/>
          </a:p>
        </p:txBody>
      </p:sp>
      <p:sp>
        <p:nvSpPr>
          <p:cNvPr id="7" name="Text 5"/>
          <p:cNvSpPr/>
          <p:nvPr/>
        </p:nvSpPr>
        <p:spPr>
          <a:xfrm>
            <a:off x="731520" y="1691640"/>
            <a:ext cx="3520440" cy="2834640"/>
          </a:xfrm>
          <a:prstGeom prst="rect">
            <a:avLst/>
          </a:prstGeom>
          <a:noFill/>
          <a:ln/>
        </p:spPr>
        <p:txBody>
          <a:bodyPr wrap="square" rtlCol="0" anchor="ctr"/>
          <a:lstStyle/>
          <a:p>
            <a:pPr indent="0" marL="0">
              <a:lnSpc>
                <a:spcPts val="1400"/>
              </a:lnSpc>
              <a:buNone/>
            </a:pPr>
            <a:r>
              <a:rPr lang="en-US" sz="900" dirty="0">
                <a:solidFill>
                  <a:srgbClr val="FFFFFF"/>
                </a:solidFill>
                <a:latin typeface="Arial" pitchFamily="34" charset="0"/>
                <a:ea typeface="Arial" pitchFamily="34" charset="-122"/>
                <a:cs typeface="Arial" pitchFamily="34" charset="-120"/>
              </a:rPr>
              <a:t>✓ Horizontal Win Check (gas: 916k)
</a:t>
            </a:r>
            <a:pPr indent="0" marL="0">
              <a:lnSpc>
                <a:spcPts val="1400"/>
              </a:lnSpc>
              <a:buNone/>
            </a:pPr>
            <a:r>
              <a:rPr lang="en-US" sz="900" dirty="0">
                <a:solidFill>
                  <a:srgbClr val="FFFFFF"/>
                </a:solidFill>
                <a:latin typeface="Arial" pitchFamily="34" charset="0"/>
                <a:ea typeface="Arial" pitchFamily="34" charset="-122"/>
                <a:cs typeface="Arial" pitchFamily="34" charset="-120"/>
              </a:rPr>
              <a:t>✓ Vertical Win Check (gas: 880k)
</a:t>
            </a:r>
            <a:pPr indent="0" marL="0">
              <a:lnSpc>
                <a:spcPts val="1400"/>
              </a:lnSpc>
              <a:buNone/>
            </a:pPr>
            <a:r>
              <a:rPr lang="en-US" sz="900" dirty="0">
                <a:solidFill>
                  <a:srgbClr val="FFFFFF"/>
                </a:solidFill>
                <a:latin typeface="Arial" pitchFamily="34" charset="0"/>
                <a:ea typeface="Arial" pitchFamily="34" charset="-122"/>
                <a:cs typeface="Arial" pitchFamily="34" charset="-120"/>
              </a:rPr>
              <a:t>✓ Diagonal Positive Win (gas: 1.23M)
</a:t>
            </a:r>
            <a:pPr indent="0" marL="0">
              <a:lnSpc>
                <a:spcPts val="1400"/>
              </a:lnSpc>
              <a:buNone/>
            </a:pPr>
            <a:r>
              <a:rPr lang="en-US" sz="900" dirty="0">
                <a:solidFill>
                  <a:srgbClr val="FFFFFF"/>
                </a:solidFill>
                <a:latin typeface="Arial" pitchFamily="34" charset="0"/>
                <a:ea typeface="Arial" pitchFamily="34" charset="-122"/>
                <a:cs typeface="Arial" pitchFamily="34" charset="-120"/>
              </a:rPr>
              <a:t>✓ Diagonal Negative Win (gas: 1.21M)
</a:t>
            </a:r>
            <a:pPr indent="0" marL="0">
              <a:lnSpc>
                <a:spcPts val="1400"/>
              </a:lnSpc>
              <a:buNone/>
            </a:pPr>
            <a:r>
              <a:rPr lang="en-US" sz="900" dirty="0">
                <a:solidFill>
                  <a:srgbClr val="FFFFFF"/>
                </a:solidFill>
                <a:latin typeface="Arial" pitchFamily="34" charset="0"/>
                <a:ea typeface="Arial" pitchFamily="34" charset="-122"/>
                <a:cs typeface="Arial" pitchFamily="34" charset="-120"/>
              </a:rPr>
              <a:t>✓ 42-Move Draw Detection (gas: 6.60M)
</a:t>
            </a:r>
            <a:pPr indent="0" marL="0">
              <a:lnSpc>
                <a:spcPts val="1400"/>
              </a:lnSpc>
              <a:buNone/>
            </a:pPr>
            <a:r>
              <a:rPr lang="en-US" sz="900" dirty="0">
                <a:solidFill>
                  <a:srgbClr val="FFFFFF"/>
                </a:solidFill>
                <a:latin typeface="Arial" pitchFamily="34" charset="0"/>
                <a:ea typeface="Arial" pitchFamily="34" charset="-122"/>
                <a:cs typeface="Arial" pitchFamily="34" charset="-120"/>
              </a:rPr>
              <a:t>✓ Turn Switching &amp; Overflow Guards
</a:t>
            </a:r>
            <a:pPr indent="0" marL="0">
              <a:lnSpc>
                <a:spcPts val="1400"/>
              </a:lnSpc>
              <a:buNone/>
            </a:pPr>
            <a:r>
              <a:rPr lang="en-US" sz="900" dirty="0">
                <a:solidFill>
                  <a:srgbClr val="FFFFFF"/>
                </a:solidFill>
                <a:latin typeface="Arial" pitchFamily="34" charset="0"/>
                <a:ea typeface="Arial" pitchFamily="34" charset="-122"/>
                <a:cs typeface="Arial" pitchFamily="34" charset="-120"/>
              </a:rPr>
              <a:t>✓ 24h Timeout Claim &amp; Premature Revert
</a:t>
            </a:r>
            <a:pPr indent="0" marL="0">
              <a:lnSpc>
                <a:spcPts val="1400"/>
              </a:lnSpc>
              <a:buNone/>
            </a:pPr>
            <a:r>
              <a:rPr lang="en-US" sz="900" dirty="0">
                <a:solidFill>
                  <a:srgbClr val="FFFFFF"/>
                </a:solidFill>
                <a:latin typeface="Arial" pitchFamily="34" charset="0"/>
                <a:ea typeface="Arial" pitchFamily="34" charset="-122"/>
                <a:cs typeface="Arial" pitchFamily="34" charset="-120"/>
              </a:rPr>
              <a:t>✓ Self-Join &amp; Multi-Game Isolation
</a:t>
            </a:r>
            <a:pPr indent="0" marL="0">
              <a:lnSpc>
                <a:spcPts val="1400"/>
              </a:lnSpc>
              <a:buNone/>
            </a:pPr>
            <a:endParaRPr lang="en-US" sz="900" dirty="0"/>
          </a:p>
          <a:p>
            <a:pPr indent="0" marL="0">
              <a:lnSpc>
                <a:spcPts val="1400"/>
              </a:lnSpc>
              <a:buNone/>
            </a:pPr>
            <a:r>
              <a:rPr lang="en-US" sz="900" b="1" dirty="0">
                <a:solidFill>
                  <a:srgbClr val="10B981"/>
                </a:solidFill>
                <a:latin typeface="Arial" pitchFamily="34" charset="0"/>
                <a:ea typeface="Arial" pitchFamily="34" charset="-122"/>
                <a:cs typeface="Arial" pitchFamily="34" charset="-120"/>
              </a:rPr>
              <a:t>Result: 22 passed; 0 failed; 0 skipped</a:t>
            </a:r>
            <a:endParaRPr lang="en-US" sz="900" dirty="0"/>
          </a:p>
        </p:txBody>
      </p:sp>
      <p:sp>
        <p:nvSpPr>
          <p:cNvPr id="8" name="Shape 6"/>
          <p:cNvSpPr/>
          <p:nvPr/>
        </p:nvSpPr>
        <p:spPr>
          <a:xfrm>
            <a:off x="4709160" y="1143000"/>
            <a:ext cx="3886200" cy="3566160"/>
          </a:xfrm>
          <a:prstGeom prst="roundRect">
            <a:avLst>
              <a:gd name="adj" fmla="val 2564"/>
            </a:avLst>
          </a:prstGeom>
          <a:solidFill>
            <a:srgbClr val="161F30"/>
          </a:solidFill>
          <a:ln w="19050">
            <a:solidFill>
              <a:srgbClr val="00F0FF"/>
            </a:solidFill>
            <a:prstDash val="solid"/>
          </a:ln>
        </p:spPr>
      </p:sp>
      <p:sp>
        <p:nvSpPr>
          <p:cNvPr id="9" name="Text 7"/>
          <p:cNvSpPr/>
          <p:nvPr/>
        </p:nvSpPr>
        <p:spPr>
          <a:xfrm>
            <a:off x="4892040" y="1325880"/>
            <a:ext cx="3520440" cy="320040"/>
          </a:xfrm>
          <a:prstGeom prst="rect">
            <a:avLst/>
          </a:prstGeom>
          <a:noFill/>
          <a:ln/>
        </p:spPr>
        <p:txBody>
          <a:bodyPr wrap="square" rtlCol="0" anchor="ctr"/>
          <a:lstStyle/>
          <a:p>
            <a:pPr indent="0" marL="0">
              <a:buNone/>
            </a:pPr>
            <a:r>
              <a:rPr lang="en-US" sz="1300" b="1" dirty="0">
                <a:solidFill>
                  <a:srgbClr val="00F0FF"/>
                </a:solidFill>
                <a:latin typeface="Arial" pitchFamily="34" charset="0"/>
                <a:ea typeface="Arial" pitchFamily="34" charset="-122"/>
                <a:cs typeface="Arial" pitchFamily="34" charset="-120"/>
              </a:rPr>
              <a:t>Live Base Sepolia Deployment</a:t>
            </a:r>
            <a:endParaRPr lang="en-US" sz="1300" dirty="0"/>
          </a:p>
        </p:txBody>
      </p:sp>
      <p:sp>
        <p:nvSpPr>
          <p:cNvPr id="10" name="Text 8"/>
          <p:cNvSpPr/>
          <p:nvPr/>
        </p:nvSpPr>
        <p:spPr>
          <a:xfrm>
            <a:off x="4892040" y="1691640"/>
            <a:ext cx="3520440" cy="2834640"/>
          </a:xfrm>
          <a:prstGeom prst="rect">
            <a:avLst/>
          </a:prstGeom>
          <a:noFill/>
          <a:ln/>
        </p:spPr>
        <p:txBody>
          <a:bodyPr wrap="square" rtlCol="0" anchor="ctr"/>
          <a:lstStyle/>
          <a:p>
            <a:pPr indent="0" marL="0">
              <a:buNone/>
            </a:pPr>
            <a:r>
              <a:rPr lang="en-US" sz="950" b="1" dirty="0">
                <a:solidFill>
                  <a:srgbClr val="FFFFFF"/>
                </a:solidFill>
                <a:latin typeface="Arial" pitchFamily="34" charset="0"/>
                <a:ea typeface="Arial" pitchFamily="34" charset="-122"/>
                <a:cs typeface="Arial" pitchFamily="34" charset="-120"/>
              </a:rPr>
              <a:t>Network: </a:t>
            </a:r>
            <a:pPr indent="0" marL="0">
              <a:buNone/>
            </a:pPr>
            <a:r>
              <a:rPr lang="en-US" sz="950" dirty="0">
                <a:solidFill>
                  <a:srgbClr val="94A3B8"/>
                </a:solidFill>
                <a:latin typeface="Arial" pitchFamily="34" charset="0"/>
                <a:ea typeface="Arial" pitchFamily="34" charset="-122"/>
                <a:cs typeface="Arial" pitchFamily="34" charset="-120"/>
              </a:rPr>
              <a:t>Base Sepolia (Chain ID 84532)
</a:t>
            </a:r>
            <a:pPr indent="0" marL="0">
              <a:buNone/>
            </a:pPr>
            <a:r>
              <a:rPr lang="en-US" sz="950" b="1" dirty="0">
                <a:solidFill>
                  <a:srgbClr val="FFFFFF"/>
                </a:solidFill>
                <a:latin typeface="Arial" pitchFamily="34" charset="0"/>
                <a:ea typeface="Arial" pitchFamily="34" charset="-122"/>
                <a:cs typeface="Arial" pitchFamily="34" charset="-120"/>
              </a:rPr>
              <a:t>Contract Address:
</a:t>
            </a:r>
            <a:pPr indent="0" marL="0">
              <a:buNone/>
            </a:pPr>
            <a:r>
              <a:rPr lang="en-US" sz="850" dirty="0">
                <a:solidFill>
                  <a:srgbClr val="00F0FF"/>
                </a:solidFill>
                <a:latin typeface="Courier New" pitchFamily="34" charset="0"/>
                <a:ea typeface="Courier New" pitchFamily="34" charset="-122"/>
                <a:cs typeface="Courier New" pitchFamily="34" charset="-120"/>
              </a:rPr>
              <a:t>0xBbA7fA5D15Ba7C05954235B0E6B913cdE9dfB6db
</a:t>
            </a:r>
            <a:pPr indent="0" marL="0">
              <a:buNone/>
            </a:pPr>
            <a:r>
              <a:rPr lang="en-US" sz="950" b="1" dirty="0">
                <a:solidFill>
                  <a:srgbClr val="FFFFFF"/>
                </a:solidFill>
                <a:latin typeface="Arial" pitchFamily="34" charset="0"/>
                <a:ea typeface="Arial" pitchFamily="34" charset="-122"/>
                <a:cs typeface="Arial" pitchFamily="34" charset="-120"/>
              </a:rPr>
              <a:t>Deployment Tx:
</a:t>
            </a:r>
            <a:pPr indent="0" marL="0">
              <a:buNone/>
            </a:pPr>
            <a:r>
              <a:rPr lang="en-US" sz="850" dirty="0">
                <a:solidFill>
                  <a:srgbClr val="FF2A5F"/>
                </a:solidFill>
                <a:latin typeface="Courier New" pitchFamily="34" charset="0"/>
                <a:ea typeface="Courier New" pitchFamily="34" charset="-122"/>
                <a:cs typeface="Courier New" pitchFamily="34" charset="-120"/>
              </a:rPr>
              <a:t>0xdd822a522e26307bb87c0eb0d4e2f903e4c3da...
</a:t>
            </a:r>
            <a:pPr indent="0" marL="0">
              <a:buNone/>
            </a:pPr>
            <a:r>
              <a:rPr lang="en-US" sz="950" b="1" dirty="0">
                <a:solidFill>
                  <a:srgbClr val="FFFFFF"/>
                </a:solidFill>
                <a:latin typeface="Arial" pitchFamily="34" charset="0"/>
                <a:ea typeface="Arial" pitchFamily="34" charset="-122"/>
                <a:cs typeface="Arial" pitchFamily="34" charset="-120"/>
              </a:rPr>
              <a:t>Deployed Block: </a:t>
            </a:r>
            <a:pPr indent="0" marL="0">
              <a:buNone/>
            </a:pPr>
            <a:r>
              <a:rPr lang="en-US" sz="950" dirty="0">
                <a:solidFill>
                  <a:srgbClr val="94A3B8"/>
                </a:solidFill>
                <a:latin typeface="Arial" pitchFamily="34" charset="0"/>
                <a:ea typeface="Arial" pitchFamily="34" charset="-122"/>
                <a:cs typeface="Arial" pitchFamily="34" charset="-120"/>
              </a:rPr>
              <a:t>47,936,341 (12.39 KB bytecode)
</a:t>
            </a:r>
            <a:pPr indent="0" marL="0">
              <a:buNone/>
            </a:pPr>
            <a:r>
              <a:rPr lang="en-US" sz="950" b="1" dirty="0">
                <a:solidFill>
                  <a:srgbClr val="FFFFFF"/>
                </a:solidFill>
                <a:latin typeface="Arial" pitchFamily="34" charset="0"/>
                <a:ea typeface="Arial" pitchFamily="34" charset="-122"/>
                <a:cs typeface="Arial" pitchFamily="34" charset="-120"/>
              </a:rPr>
              <a:t>Frontend Build: </a:t>
            </a:r>
            <a:pPr indent="0" marL="0">
              <a:buNone/>
            </a:pPr>
            <a:r>
              <a:rPr lang="en-US" sz="950" dirty="0">
                <a:solidFill>
                  <a:srgbClr val="10B981"/>
                </a:solidFill>
                <a:latin typeface="Arial" pitchFamily="34" charset="0"/>
                <a:ea typeface="Arial" pitchFamily="34" charset="-122"/>
                <a:cs typeface="Arial" pitchFamily="34" charset="-120"/>
              </a:rPr>
              <a:t>Vite + TypeScript (0 errors)</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0F19"/>
        </a:solidFill>
      </p:bgPr>
    </p:bg>
    <p:spTree>
      <p:nvGrpSpPr>
        <p:cNvPr id="1" name=""/>
        <p:cNvGrpSpPr/>
        <p:nvPr/>
      </p:nvGrpSpPr>
      <p:grpSpPr>
        <a:xfrm>
          <a:off x="0" y="0"/>
          <a:ext cx="0" cy="0"/>
          <a:chOff x="0" y="0"/>
          <a:chExt cx="0" cy="0"/>
        </a:xfrm>
      </p:grpSpPr>
      <p:sp>
        <p:nvSpPr>
          <p:cNvPr id="2" name="Text 0"/>
          <p:cNvSpPr/>
          <p:nvPr/>
        </p:nvSpPr>
        <p:spPr>
          <a:xfrm>
            <a:off x="548640" y="274320"/>
            <a:ext cx="8046720" cy="228600"/>
          </a:xfrm>
          <a:prstGeom prst="rect">
            <a:avLst/>
          </a:prstGeom>
          <a:noFill/>
          <a:ln/>
        </p:spPr>
        <p:txBody>
          <a:bodyPr wrap="square" rtlCol="0" anchor="ctr"/>
          <a:lstStyle/>
          <a:p>
            <a:pPr indent="0" marL="0">
              <a:buNone/>
            </a:pPr>
            <a:r>
              <a:rPr lang="en-US" sz="900" b="1" dirty="0">
                <a:solidFill>
                  <a:srgbClr val="00F0FF"/>
                </a:solidFill>
                <a:latin typeface="Arial" pitchFamily="34" charset="0"/>
                <a:ea typeface="Arial" pitchFamily="34" charset="-122"/>
                <a:cs typeface="Arial" pitchFamily="34" charset="-120"/>
              </a:rPr>
              <a:t>CONCLUSION</a:t>
            </a:r>
            <a:endParaRPr lang="en-US" sz="900" dirty="0"/>
          </a:p>
        </p:txBody>
      </p:sp>
      <p:sp>
        <p:nvSpPr>
          <p:cNvPr id="3" name="Text 1"/>
          <p:cNvSpPr/>
          <p:nvPr/>
        </p:nvSpPr>
        <p:spPr>
          <a:xfrm>
            <a:off x="548640" y="502920"/>
            <a:ext cx="8046720" cy="411480"/>
          </a:xfrm>
          <a:prstGeom prst="rect">
            <a:avLst/>
          </a:prstGeom>
          <a:noFill/>
          <a:ln/>
        </p:spPr>
        <p:txBody>
          <a:bodyPr wrap="square" rtlCol="0" anchor="ctr"/>
          <a:lstStyle/>
          <a:p>
            <a:pPr indent="0" marL="0">
              <a:buNone/>
            </a:pPr>
            <a:r>
              <a:rPr lang="en-US" sz="1800" b="1" dirty="0">
                <a:solidFill>
                  <a:srgbClr val="FFFFFF"/>
                </a:solidFill>
                <a:latin typeface="Arial" pitchFamily="34" charset="0"/>
                <a:ea typeface="Arial" pitchFamily="34" charset="-122"/>
                <a:cs typeface="Arial" pitchFamily="34" charset="-120"/>
              </a:rPr>
              <a:t>Key Takeaways, Disclosed Limitations &amp; Future Roadmap</a:t>
            </a:r>
            <a:endParaRPr lang="en-US" sz="1800" dirty="0"/>
          </a:p>
        </p:txBody>
      </p:sp>
      <p:sp>
        <p:nvSpPr>
          <p:cNvPr id="4" name="Shape 2"/>
          <p:cNvSpPr/>
          <p:nvPr/>
        </p:nvSpPr>
        <p:spPr>
          <a:xfrm>
            <a:off x="548640" y="960120"/>
            <a:ext cx="8046720" cy="13716"/>
          </a:xfrm>
          <a:prstGeom prst="rect">
            <a:avLst/>
          </a:prstGeom>
          <a:solidFill>
            <a:srgbClr val="2A3B5C"/>
          </a:solidFill>
          <a:ln/>
        </p:spPr>
      </p:sp>
      <p:sp>
        <p:nvSpPr>
          <p:cNvPr id="5" name="Shape 3"/>
          <p:cNvSpPr/>
          <p:nvPr/>
        </p:nvSpPr>
        <p:spPr>
          <a:xfrm>
            <a:off x="548640" y="1143000"/>
            <a:ext cx="3886200" cy="3566160"/>
          </a:xfrm>
          <a:prstGeom prst="roundRect">
            <a:avLst>
              <a:gd name="adj" fmla="val 2564"/>
            </a:avLst>
          </a:prstGeom>
          <a:solidFill>
            <a:srgbClr val="161F30"/>
          </a:solidFill>
          <a:ln w="12700">
            <a:solidFill>
              <a:srgbClr val="2A3B5C"/>
            </a:solidFill>
            <a:prstDash val="solid"/>
          </a:ln>
        </p:spPr>
      </p:sp>
      <p:sp>
        <p:nvSpPr>
          <p:cNvPr id="6" name="Text 4"/>
          <p:cNvSpPr/>
          <p:nvPr/>
        </p:nvSpPr>
        <p:spPr>
          <a:xfrm>
            <a:off x="731520" y="1325880"/>
            <a:ext cx="3520440" cy="320040"/>
          </a:xfrm>
          <a:prstGeom prst="rect">
            <a:avLst/>
          </a:prstGeom>
          <a:noFill/>
          <a:ln/>
        </p:spPr>
        <p:txBody>
          <a:bodyPr wrap="square" rtlCol="0" anchor="ctr"/>
          <a:lstStyle/>
          <a:p>
            <a:pPr indent="0" marL="0">
              <a:buNone/>
            </a:pPr>
            <a:r>
              <a:rPr lang="en-US" sz="1300" b="1" dirty="0">
                <a:solidFill>
                  <a:srgbClr val="00F0FF"/>
                </a:solidFill>
                <a:latin typeface="Arial" pitchFamily="34" charset="0"/>
                <a:ea typeface="Arial" pitchFamily="34" charset="-122"/>
                <a:cs typeface="Arial" pitchFamily="34" charset="-120"/>
              </a:rPr>
              <a:t>Achievements &amp; Disclosed Limits</a:t>
            </a:r>
            <a:endParaRPr lang="en-US" sz="1300" dirty="0"/>
          </a:p>
        </p:txBody>
      </p:sp>
      <p:sp>
        <p:nvSpPr>
          <p:cNvPr id="7" name="Text 5"/>
          <p:cNvSpPr/>
          <p:nvPr/>
        </p:nvSpPr>
        <p:spPr>
          <a:xfrm>
            <a:off x="731520" y="1691640"/>
            <a:ext cx="3520440" cy="2834640"/>
          </a:xfrm>
          <a:prstGeom prst="rect">
            <a:avLst/>
          </a:prstGeom>
          <a:noFill/>
          <a:ln/>
        </p:spPr>
        <p:txBody>
          <a:bodyPr wrap="square" rtlCol="0" anchor="ctr"/>
          <a:lstStyle/>
          <a:p>
            <a:pPr indent="0" marL="0">
              <a:buNone/>
            </a:pPr>
            <a:r>
              <a:rPr lang="en-US" sz="950" dirty="0">
                <a:solidFill>
                  <a:srgbClr val="FFFFFF"/>
                </a:solidFill>
                <a:latin typeface="Arial" pitchFamily="34" charset="0"/>
                <a:ea typeface="Arial" pitchFamily="34" charset="-122"/>
                <a:cs typeface="Arial" pitchFamily="34" charset="-120"/>
              </a:rPr>
              <a:t>✓ Proved 100% serverless on-chain gaming.
</a:t>
            </a:r>
            <a:pPr indent="0" marL="0">
              <a:buNone/>
            </a:pPr>
            <a:r>
              <a:rPr lang="en-US" sz="950" dirty="0">
                <a:solidFill>
                  <a:srgbClr val="FFFFFF"/>
                </a:solidFill>
                <a:latin typeface="Arial" pitchFamily="34" charset="0"/>
                <a:ea typeface="Arial" pitchFamily="34" charset="-122"/>
                <a:cs typeface="Arial" pitchFamily="34" charset="-120"/>
              </a:rPr>
              <a:t>✓ Solved match griefing via 24h timeouts.
</a:t>
            </a:r>
            <a:pPr indent="0" marL="0">
              <a:buNone/>
            </a:pPr>
            <a:r>
              <a:rPr lang="en-US" sz="950" dirty="0">
                <a:solidFill>
                  <a:srgbClr val="FFFFFF"/>
                </a:solidFill>
                <a:latin typeface="Arial" pitchFamily="34" charset="0"/>
                <a:ea typeface="Arial" pitchFamily="34" charset="-122"/>
                <a:cs typeface="Arial" pitchFamily="34" charset="-120"/>
              </a:rPr>
              <a:t>✓ Clean Wagmi v2 + Viem deep link UI.
</a:t>
            </a:r>
            <a:pPr indent="0" marL="0">
              <a:buNone/>
            </a:pPr>
            <a:r>
              <a:rPr lang="en-US" sz="950" b="1" dirty="0">
                <a:solidFill>
                  <a:srgbClr val="F59E0B"/>
                </a:solidFill>
                <a:latin typeface="Arial" pitchFamily="34" charset="0"/>
                <a:ea typeface="Arial" pitchFamily="34" charset="-122"/>
                <a:cs typeface="Arial" pitchFamily="34" charset="-120"/>
              </a:rPr>
              <a:t>⚠ Disclosed Limitation: </a:t>
            </a:r>
            <a:pPr indent="0" marL="0">
              <a:buNone/>
            </a:pPr>
            <a:r>
              <a:rPr lang="en-US" sz="950" dirty="0">
                <a:solidFill>
                  <a:srgbClr val="94A3B8"/>
                </a:solidFill>
                <a:latin typeface="Arial" pitchFamily="34" charset="0"/>
                <a:ea typeface="Arial" pitchFamily="34" charset="-122"/>
                <a:cs typeface="Arial" pitchFamily="34" charset="-120"/>
              </a:rPr>
              <a:t>Game mechanics verified by automated tests; manual 2-wallet live match is pending manual MetaMask execution.
</a:t>
            </a:r>
            <a:pPr indent="0" marL="0">
              <a:buNone/>
            </a:pPr>
            <a:r>
              <a:rPr lang="en-US" sz="950" b="1" dirty="0">
                <a:solidFill>
                  <a:srgbClr val="F59E0B"/>
                </a:solidFill>
                <a:latin typeface="Arial" pitchFamily="34" charset="0"/>
                <a:ea typeface="Arial" pitchFamily="34" charset="-122"/>
                <a:cs typeface="Arial" pitchFamily="34" charset="-120"/>
              </a:rPr>
              <a:t>⚠ Move Latency: </a:t>
            </a:r>
            <a:pPr indent="0" marL="0">
              <a:buNone/>
            </a:pPr>
            <a:r>
              <a:rPr lang="en-US" sz="950" dirty="0">
                <a:solidFill>
                  <a:srgbClr val="94A3B8"/>
                </a:solidFill>
                <a:latin typeface="Arial" pitchFamily="34" charset="0"/>
                <a:ea typeface="Arial" pitchFamily="34" charset="-122"/>
                <a:cs typeface="Arial" pitchFamily="34" charset="-120"/>
              </a:rPr>
              <a:t>Bounded by L2 block finality (~2 seconds).</a:t>
            </a:r>
            <a:endParaRPr lang="en-US" sz="950" dirty="0"/>
          </a:p>
        </p:txBody>
      </p:sp>
      <p:sp>
        <p:nvSpPr>
          <p:cNvPr id="8" name="Shape 6"/>
          <p:cNvSpPr/>
          <p:nvPr/>
        </p:nvSpPr>
        <p:spPr>
          <a:xfrm>
            <a:off x="4709160" y="1143000"/>
            <a:ext cx="3886200" cy="3566160"/>
          </a:xfrm>
          <a:prstGeom prst="roundRect">
            <a:avLst>
              <a:gd name="adj" fmla="val 2564"/>
            </a:avLst>
          </a:prstGeom>
          <a:solidFill>
            <a:srgbClr val="161F30"/>
          </a:solidFill>
          <a:ln w="12700">
            <a:solidFill>
              <a:srgbClr val="FF2A5F"/>
            </a:solidFill>
            <a:prstDash val="solid"/>
          </a:ln>
        </p:spPr>
      </p:sp>
      <p:sp>
        <p:nvSpPr>
          <p:cNvPr id="9" name="Text 7"/>
          <p:cNvSpPr/>
          <p:nvPr/>
        </p:nvSpPr>
        <p:spPr>
          <a:xfrm>
            <a:off x="4892040" y="1325880"/>
            <a:ext cx="3520440" cy="320040"/>
          </a:xfrm>
          <a:prstGeom prst="rect">
            <a:avLst/>
          </a:prstGeom>
          <a:noFill/>
          <a:ln/>
        </p:spPr>
        <p:txBody>
          <a:bodyPr wrap="square" rtlCol="0" anchor="ctr"/>
          <a:lstStyle/>
          <a:p>
            <a:pPr indent="0" marL="0">
              <a:buNone/>
            </a:pPr>
            <a:r>
              <a:rPr lang="en-US" sz="1300" b="1" dirty="0">
                <a:solidFill>
                  <a:srgbClr val="FF2A5F"/>
                </a:solidFill>
                <a:latin typeface="Arial" pitchFamily="34" charset="0"/>
                <a:ea typeface="Arial" pitchFamily="34" charset="-122"/>
                <a:cs typeface="Arial" pitchFamily="34" charset="-120"/>
              </a:rPr>
              <a:t>Future Roadmap</a:t>
            </a:r>
            <a:endParaRPr lang="en-US" sz="1300" dirty="0"/>
          </a:p>
        </p:txBody>
      </p:sp>
      <p:sp>
        <p:nvSpPr>
          <p:cNvPr id="10" name="Text 8"/>
          <p:cNvSpPr/>
          <p:nvPr/>
        </p:nvSpPr>
        <p:spPr>
          <a:xfrm>
            <a:off x="4892040" y="1691640"/>
            <a:ext cx="3520440" cy="2834640"/>
          </a:xfrm>
          <a:prstGeom prst="rect">
            <a:avLst/>
          </a:prstGeom>
          <a:noFill/>
          <a:ln/>
        </p:spPr>
        <p:txBody>
          <a:bodyPr wrap="square" rtlCol="0" anchor="ctr"/>
          <a:lstStyle/>
          <a:p>
            <a:pPr indent="0" marL="0">
              <a:buNone/>
            </a:pPr>
            <a:r>
              <a:rPr lang="en-US" sz="950" b="1" dirty="0">
                <a:solidFill>
                  <a:srgbClr val="FFFFFF"/>
                </a:solidFill>
                <a:latin typeface="Arial" pitchFamily="34" charset="0"/>
                <a:ea typeface="Arial" pitchFamily="34" charset="-122"/>
                <a:cs typeface="Arial" pitchFamily="34" charset="-120"/>
              </a:rPr>
              <a:t>1. Tokenized Wagering Pools:
</a:t>
            </a:r>
            <a:pPr indent="0" marL="0">
              <a:buNone/>
            </a:pPr>
            <a:r>
              <a:rPr lang="en-US" sz="950" dirty="0">
                <a:solidFill>
                  <a:srgbClr val="94A3B8"/>
                </a:solidFill>
                <a:latin typeface="Arial" pitchFamily="34" charset="0"/>
                <a:ea typeface="Arial" pitchFamily="34" charset="-122"/>
                <a:cs typeface="Arial" pitchFamily="34" charset="-120"/>
              </a:rPr>
              <a:t>Allow players to stake ERC-20 tokens (e.g. USDC) with automated on-chain payouts.
</a:t>
            </a:r>
            <a:pPr indent="0" marL="0">
              <a:buNone/>
            </a:pPr>
            <a:r>
              <a:rPr lang="en-US" sz="950" b="1" dirty="0">
                <a:solidFill>
                  <a:srgbClr val="FFFFFF"/>
                </a:solidFill>
                <a:latin typeface="Arial" pitchFamily="34" charset="0"/>
                <a:ea typeface="Arial" pitchFamily="34" charset="-122"/>
                <a:cs typeface="Arial" pitchFamily="34" charset="-120"/>
              </a:rPr>
              <a:t>2. Zero-Knowledge State Proofs:
</a:t>
            </a:r>
            <a:pPr indent="0" marL="0">
              <a:buNone/>
            </a:pPr>
            <a:r>
              <a:rPr lang="en-US" sz="950" dirty="0">
                <a:solidFill>
                  <a:srgbClr val="94A3B8"/>
                </a:solidFill>
                <a:latin typeface="Arial" pitchFamily="34" charset="0"/>
                <a:ea typeface="Arial" pitchFamily="34" charset="-122"/>
                <a:cs typeface="Arial" pitchFamily="34" charset="-120"/>
              </a:rPr>
              <a:t>ZK-SNARK proofs for off-chain move compression and gas cost reduction.
</a:t>
            </a:r>
            <a:pPr indent="0" marL="0">
              <a:buNone/>
            </a:pPr>
            <a:r>
              <a:rPr lang="en-US" sz="950" b="1" dirty="0">
                <a:solidFill>
                  <a:srgbClr val="FFFFFF"/>
                </a:solidFill>
                <a:latin typeface="Arial" pitchFamily="34" charset="0"/>
                <a:ea typeface="Arial" pitchFamily="34" charset="-122"/>
                <a:cs typeface="Arial" pitchFamily="34" charset="-120"/>
              </a:rPr>
              <a:t>3. Account Abstraction (ERC-4337):
</a:t>
            </a:r>
            <a:pPr indent="0" marL="0">
              <a:buNone/>
            </a:pPr>
            <a:r>
              <a:rPr lang="en-US" sz="950" dirty="0">
                <a:solidFill>
                  <a:srgbClr val="94A3B8"/>
                </a:solidFill>
                <a:latin typeface="Arial" pitchFamily="34" charset="0"/>
                <a:ea typeface="Arial" pitchFamily="34" charset="-122"/>
                <a:cs typeface="Arial" pitchFamily="34" charset="-120"/>
              </a:rPr>
              <a:t>EIP-712 gasless session keys for frictionless instant gameplay without popup signatures.</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Savitribai Phule Pune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TurnChain — Autonomous On-Chain Connect Four</dc:title>
  <dc:subject>PptxGenJS Presentation</dc:subject>
  <dc:creator>Nikita Biradar</dc:creator>
  <cp:lastModifiedBy>Nikita Biradar</cp:lastModifiedBy>
  <cp:revision>1</cp:revision>
  <dcterms:created xsi:type="dcterms:W3CDTF">2026-10-10T19:51:38Z</dcterms:created>
  <dcterms:modified xsi:type="dcterms:W3CDTF">2026-10-10T19:51:38Z</dcterms:modified>
</cp:coreProperties>
</file>